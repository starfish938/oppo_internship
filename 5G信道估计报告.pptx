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032729"/>
            <a:ext cx="12192000" cy="3825271"/>
          </a:xfrm>
          <a:prstGeom prst="rect">
            <a:avLst/>
          </a:prstGeom>
          <a:solidFill>
            <a:srgbClr val="28666D">
              <a:alpha val="100000"/>
            </a:srgbClr>
          </a:solidFill>
          <a:ln>
            <a:prstDash val="solid"/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 r="45319"/>
          <a:stretch>
            <a:fillRect/>
          </a:stretch>
        </p:blipFill>
        <p:spPr>
          <a:xfrm>
            <a:off x="11098923" y="0"/>
            <a:ext cx="1093077" cy="5958043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1093073" y="0"/>
            <a:ext cx="10005849" cy="5958043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  <a:lumMod val="95000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100000"/>
          </a:blip>
          <a:srcRect r="45319"/>
          <a:stretch>
            <a:fillRect/>
          </a:stretch>
        </p:blipFill>
        <p:spPr>
          <a:xfrm rot="10800000">
            <a:off x="-3" y="-12700"/>
            <a:ext cx="1093076" cy="5958043"/>
          </a:xfrm>
          <a:prstGeom prst="rect">
            <a:avLst/>
          </a:prstGeom>
          <a:ln>
            <a:headEnd type="none"/>
            <a:tailEnd type="none"/>
          </a:ln>
        </p:spPr>
      </p:pic>
      <p:grpSp>
        <p:nvGrpSpPr>
          <p:cNvPr id="6" name="Group 6"/>
          <p:cNvGrpSpPr/>
          <p:nvPr/>
        </p:nvGrpSpPr>
        <p:grpSpPr>
          <a:xfrm rot="0">
            <a:off x="10966561" y="-366316"/>
            <a:ext cx="965460" cy="2405173"/>
            <a:chOff x="10715891" y="-414327"/>
            <a:chExt cx="1152915" cy="2872164"/>
          </a:xfrm>
        </p:grpSpPr>
        <p:sp>
          <p:nvSpPr>
            <p:cNvPr id="7" name="AutoShape 7"/>
            <p:cNvSpPr/>
            <p:nvPr/>
          </p:nvSpPr>
          <p:spPr>
            <a:xfrm rot="2580000">
              <a:off x="10715891" y="-386573"/>
              <a:ext cx="347869" cy="1989386"/>
            </a:xfrm>
            <a:custGeom>
              <a:avLst/>
              <a:gdLst/>
              <a:ahLst/>
              <a:cxnLst/>
              <a:rect l="l" t="t" r="r" b="b"/>
              <a:pathLst>
                <a:path w="347869" h="1989386">
                  <a:moveTo>
                    <a:pt x="0" y="324983"/>
                  </a:moveTo>
                  <a:lnTo>
                    <a:pt x="347869" y="0"/>
                  </a:lnTo>
                  <a:lnTo>
                    <a:pt x="347869" y="1815451"/>
                  </a:lnTo>
                  <a:cubicBezTo>
                    <a:pt x="347869" y="1911513"/>
                    <a:pt x="269996" y="1989386"/>
                    <a:pt x="173934" y="1989386"/>
                  </a:cubicBezTo>
                  <a:lnTo>
                    <a:pt x="173935" y="1989385"/>
                  </a:lnTo>
                  <a:cubicBezTo>
                    <a:pt x="77873" y="1989385"/>
                    <a:pt x="0" y="1911512"/>
                    <a:pt x="0" y="1815450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rot="2580000">
              <a:off x="11008124" y="-414327"/>
              <a:ext cx="347870" cy="2872164"/>
            </a:xfrm>
            <a:custGeom>
              <a:avLst/>
              <a:gdLst/>
              <a:ahLst/>
              <a:cxnLst/>
              <a:rect l="l" t="t" r="r" b="b"/>
              <a:pathLst>
                <a:path w="347870" h="2872164">
                  <a:moveTo>
                    <a:pt x="0" y="200317"/>
                  </a:moveTo>
                  <a:lnTo>
                    <a:pt x="214424" y="0"/>
                  </a:lnTo>
                  <a:lnTo>
                    <a:pt x="347870" y="142844"/>
                  </a:lnTo>
                  <a:lnTo>
                    <a:pt x="347869" y="2698229"/>
                  </a:lnTo>
                  <a:cubicBezTo>
                    <a:pt x="347869" y="2794291"/>
                    <a:pt x="269996" y="2872164"/>
                    <a:pt x="173934" y="2872164"/>
                  </a:cubicBezTo>
                  <a:lnTo>
                    <a:pt x="173935" y="2872163"/>
                  </a:lnTo>
                  <a:cubicBezTo>
                    <a:pt x="77873" y="2872163"/>
                    <a:pt x="0" y="2794290"/>
                    <a:pt x="0" y="2698228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rot="2580000">
              <a:off x="11520936" y="284880"/>
              <a:ext cx="347870" cy="1828813"/>
            </a:xfrm>
            <a:custGeom>
              <a:avLst/>
              <a:gdLst/>
              <a:ahLst/>
              <a:cxnLst/>
              <a:rect l="l" t="t" r="r" b="b"/>
              <a:pathLst>
                <a:path w="347870" h="1828813">
                  <a:moveTo>
                    <a:pt x="0" y="0"/>
                  </a:moveTo>
                  <a:lnTo>
                    <a:pt x="347870" y="372368"/>
                  </a:lnTo>
                  <a:lnTo>
                    <a:pt x="347869" y="1654878"/>
                  </a:lnTo>
                  <a:cubicBezTo>
                    <a:pt x="347869" y="1750940"/>
                    <a:pt x="269996" y="1828813"/>
                    <a:pt x="173934" y="1828813"/>
                  </a:cubicBezTo>
                  <a:lnTo>
                    <a:pt x="173935" y="1828812"/>
                  </a:lnTo>
                  <a:cubicBezTo>
                    <a:pt x="77873" y="1828812"/>
                    <a:pt x="0" y="1750939"/>
                    <a:pt x="0" y="1654877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grpSp>
        <p:nvGrpSpPr>
          <p:cNvPr id="10" name="Group 10"/>
          <p:cNvGrpSpPr/>
          <p:nvPr/>
        </p:nvGrpSpPr>
        <p:grpSpPr>
          <a:xfrm rot="10800000">
            <a:off x="259979" y="4819142"/>
            <a:ext cx="965460" cy="2405173"/>
            <a:chOff x="10715891" y="-414327"/>
            <a:chExt cx="1152915" cy="2872164"/>
          </a:xfrm>
        </p:grpSpPr>
        <p:sp>
          <p:nvSpPr>
            <p:cNvPr id="11" name="AutoShape 11"/>
            <p:cNvSpPr/>
            <p:nvPr/>
          </p:nvSpPr>
          <p:spPr>
            <a:xfrm rot="2580000">
              <a:off x="10715891" y="-386573"/>
              <a:ext cx="347869" cy="1989386"/>
            </a:xfrm>
            <a:custGeom>
              <a:avLst/>
              <a:gdLst/>
              <a:ahLst/>
              <a:cxnLst/>
              <a:rect l="l" t="t" r="r" b="b"/>
              <a:pathLst>
                <a:path w="347869" h="1989386">
                  <a:moveTo>
                    <a:pt x="0" y="324983"/>
                  </a:moveTo>
                  <a:lnTo>
                    <a:pt x="347869" y="0"/>
                  </a:lnTo>
                  <a:lnTo>
                    <a:pt x="347869" y="1815451"/>
                  </a:lnTo>
                  <a:cubicBezTo>
                    <a:pt x="347869" y="1911513"/>
                    <a:pt x="269996" y="1989386"/>
                    <a:pt x="173934" y="1989386"/>
                  </a:cubicBezTo>
                  <a:lnTo>
                    <a:pt x="173935" y="1989385"/>
                  </a:lnTo>
                  <a:cubicBezTo>
                    <a:pt x="77873" y="1989385"/>
                    <a:pt x="0" y="1911512"/>
                    <a:pt x="0" y="1815450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rot="2580000">
              <a:off x="11008124" y="-414327"/>
              <a:ext cx="347870" cy="2872164"/>
            </a:xfrm>
            <a:custGeom>
              <a:avLst/>
              <a:gdLst/>
              <a:ahLst/>
              <a:cxnLst/>
              <a:rect l="l" t="t" r="r" b="b"/>
              <a:pathLst>
                <a:path w="347870" h="2872164">
                  <a:moveTo>
                    <a:pt x="0" y="200317"/>
                  </a:moveTo>
                  <a:lnTo>
                    <a:pt x="214424" y="0"/>
                  </a:lnTo>
                  <a:lnTo>
                    <a:pt x="347870" y="142844"/>
                  </a:lnTo>
                  <a:lnTo>
                    <a:pt x="347869" y="2698229"/>
                  </a:lnTo>
                  <a:cubicBezTo>
                    <a:pt x="347869" y="2794291"/>
                    <a:pt x="269996" y="2872164"/>
                    <a:pt x="173934" y="2872164"/>
                  </a:cubicBezTo>
                  <a:lnTo>
                    <a:pt x="173935" y="2872163"/>
                  </a:lnTo>
                  <a:cubicBezTo>
                    <a:pt x="77873" y="2872163"/>
                    <a:pt x="0" y="2794290"/>
                    <a:pt x="0" y="2698228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rot="2580000">
              <a:off x="11520936" y="284880"/>
              <a:ext cx="347870" cy="1828813"/>
            </a:xfrm>
            <a:custGeom>
              <a:avLst/>
              <a:gdLst/>
              <a:ahLst/>
              <a:cxnLst/>
              <a:rect l="l" t="t" r="r" b="b"/>
              <a:pathLst>
                <a:path w="347870" h="1828813">
                  <a:moveTo>
                    <a:pt x="0" y="0"/>
                  </a:moveTo>
                  <a:lnTo>
                    <a:pt x="347870" y="372368"/>
                  </a:lnTo>
                  <a:lnTo>
                    <a:pt x="347869" y="1654878"/>
                  </a:lnTo>
                  <a:cubicBezTo>
                    <a:pt x="347869" y="1750940"/>
                    <a:pt x="269996" y="1828813"/>
                    <a:pt x="173934" y="1828813"/>
                  </a:cubicBezTo>
                  <a:lnTo>
                    <a:pt x="173935" y="1828812"/>
                  </a:lnTo>
                  <a:cubicBezTo>
                    <a:pt x="77873" y="1828812"/>
                    <a:pt x="0" y="1750939"/>
                    <a:pt x="0" y="1654877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14" name="AutoShape 14"/>
          <p:cNvSpPr/>
          <p:nvPr/>
        </p:nvSpPr>
        <p:spPr>
          <a:xfrm flipV="1">
            <a:off x="5969177" y="5248408"/>
            <a:ext cx="253647" cy="218661"/>
          </a:xfrm>
          <a:prstGeom prst="triangle">
            <a:avLst/>
          </a:prstGeom>
          <a:solidFill>
            <a:srgbClr val="28666D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73752" y="375593"/>
            <a:ext cx="554044" cy="621348"/>
            <a:chOff x="383377" y="269716"/>
            <a:chExt cx="554044" cy="621348"/>
          </a:xfrm>
        </p:grpSpPr>
        <p:sp>
          <p:nvSpPr>
            <p:cNvPr id="3" name="AutoShape 3"/>
            <p:cNvSpPr/>
            <p:nvPr/>
          </p:nvSpPr>
          <p:spPr>
            <a:xfrm>
              <a:off x="383377" y="269716"/>
              <a:ext cx="554044" cy="277217"/>
            </a:xfrm>
            <a:prstGeom prst="triangle">
              <a:avLst/>
            </a:prstGeom>
            <a:solidFill>
              <a:srgbClr val="F0F0F0">
                <a:alpha val="100000"/>
                <a:lumMod val="9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08738" y="387743"/>
              <a:ext cx="503322" cy="503321"/>
            </a:xfrm>
            <a:prstGeom prst="diamond">
              <a:avLst/>
            </a:prstGeom>
            <a:solidFill>
              <a:srgbClr val="28666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476217"/>
            <a:ext cx="12192000" cy="1883557"/>
          </a:xfrm>
          <a:prstGeom prst="rect">
            <a:avLst/>
          </a:prstGeom>
          <a:solidFill>
            <a:srgbClr val="28666D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4445463"/>
            <a:ext cx="12192000" cy="113026"/>
          </a:xfrm>
          <a:prstGeom prst="rect">
            <a:avLst/>
          </a:prstGeom>
          <a:solidFill>
            <a:srgbClr val="276269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0" y="2299510"/>
            <a:ext cx="12192000" cy="113026"/>
          </a:xfrm>
          <a:prstGeom prst="rect">
            <a:avLst/>
          </a:prstGeom>
          <a:solidFill>
            <a:srgbClr val="276269">
              <a:alpha val="10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5" name="Group 5"/>
          <p:cNvGrpSpPr/>
          <p:nvPr/>
        </p:nvGrpSpPr>
        <p:grpSpPr>
          <a:xfrm rot="0">
            <a:off x="2028620" y="2821982"/>
            <a:ext cx="1460500" cy="1192026"/>
            <a:chOff x="5503863" y="2566988"/>
            <a:chExt cx="431800" cy="352425"/>
          </a:xfrm>
          <a:solidFill>
            <a:srgbClr val="FFFFFF">
              <a:alpha val="100000"/>
            </a:srgbClr>
          </a:solidFill>
        </p:grpSpPr>
        <p:sp>
          <p:nvSpPr>
            <p:cNvPr id="6" name="AutoShape 6"/>
            <p:cNvSpPr/>
            <p:nvPr/>
          </p:nvSpPr>
          <p:spPr>
            <a:xfrm>
              <a:off x="5732463" y="2635250"/>
              <a:ext cx="203200" cy="266700"/>
            </a:xfrm>
            <a:custGeom>
              <a:avLst/>
              <a:gdLst/>
              <a:ahLst/>
              <a:cxnLst/>
              <a:rect l="l" t="t" r="r" b="b"/>
              <a:pathLst>
                <a:path w="59" h="78">
                  <a:moveTo>
                    <a:pt x="57" y="78"/>
                  </a:moveTo>
                  <a:cubicBezTo>
                    <a:pt x="2" y="78"/>
                    <a:pt x="2" y="78"/>
                    <a:pt x="2" y="78"/>
                  </a:cubicBezTo>
                  <a:cubicBezTo>
                    <a:pt x="1" y="78"/>
                    <a:pt x="0" y="77"/>
                    <a:pt x="0" y="76"/>
                  </a:cubicBezTo>
                  <a:cubicBezTo>
                    <a:pt x="0" y="75"/>
                    <a:pt x="1" y="74"/>
                    <a:pt x="2" y="74"/>
                  </a:cubicBezTo>
                  <a:cubicBezTo>
                    <a:pt x="55" y="74"/>
                    <a:pt x="55" y="74"/>
                    <a:pt x="55" y="7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5" y="4"/>
                    <a:pt x="45" y="3"/>
                    <a:pt x="45" y="2"/>
                  </a:cubicBezTo>
                  <a:cubicBezTo>
                    <a:pt x="45" y="1"/>
                    <a:pt x="45" y="0"/>
                    <a:pt x="47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9" y="1"/>
                    <a:pt x="59" y="2"/>
                  </a:cubicBezTo>
                  <a:cubicBezTo>
                    <a:pt x="59" y="76"/>
                    <a:pt x="59" y="76"/>
                    <a:pt x="59" y="76"/>
                  </a:cubicBezTo>
                  <a:cubicBezTo>
                    <a:pt x="59" y="77"/>
                    <a:pt x="58" y="78"/>
                    <a:pt x="57" y="78"/>
                  </a:cubicBezTo>
                  <a:close/>
                </a:path>
              </a:pathLst>
            </a:custGeom>
            <a:grpFill/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5503863" y="2635250"/>
              <a:ext cx="201613" cy="266700"/>
            </a:xfrm>
            <a:custGeom>
              <a:avLst/>
              <a:gdLst/>
              <a:ahLst/>
              <a:cxnLst/>
              <a:rect l="l" t="t" r="r" b="b"/>
              <a:pathLst>
                <a:path w="59" h="78">
                  <a:moveTo>
                    <a:pt x="57" y="78"/>
                  </a:moveTo>
                  <a:cubicBezTo>
                    <a:pt x="2" y="78"/>
                    <a:pt x="2" y="78"/>
                    <a:pt x="2" y="78"/>
                  </a:cubicBezTo>
                  <a:cubicBezTo>
                    <a:pt x="1" y="78"/>
                    <a:pt x="0" y="77"/>
                    <a:pt x="0" y="7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1"/>
                    <a:pt x="14" y="2"/>
                  </a:cubicBezTo>
                  <a:cubicBezTo>
                    <a:pt x="14" y="3"/>
                    <a:pt x="13" y="4"/>
                    <a:pt x="1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74"/>
                    <a:pt x="4" y="74"/>
                    <a:pt x="4" y="74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58" y="74"/>
                    <a:pt x="59" y="75"/>
                    <a:pt x="59" y="76"/>
                  </a:cubicBezTo>
                  <a:cubicBezTo>
                    <a:pt x="59" y="77"/>
                    <a:pt x="58" y="78"/>
                    <a:pt x="57" y="78"/>
                  </a:cubicBezTo>
                  <a:close/>
                </a:path>
              </a:pathLst>
            </a:custGeom>
            <a:grpFill/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5527676" y="2566988"/>
              <a:ext cx="382588" cy="311150"/>
            </a:xfrm>
            <a:custGeom>
              <a:avLst/>
              <a:gdLst/>
              <a:ahLst/>
              <a:cxnLst/>
              <a:rect l="l" t="t" r="r" b="b"/>
              <a:pathLst>
                <a:path w="112" h="91">
                  <a:moveTo>
                    <a:pt x="108" y="91"/>
                  </a:moveTo>
                  <a:cubicBezTo>
                    <a:pt x="108" y="91"/>
                    <a:pt x="107" y="91"/>
                    <a:pt x="107" y="91"/>
                  </a:cubicBezTo>
                  <a:cubicBezTo>
                    <a:pt x="70" y="78"/>
                    <a:pt x="59" y="89"/>
                    <a:pt x="59" y="89"/>
                  </a:cubicBezTo>
                  <a:cubicBezTo>
                    <a:pt x="58" y="90"/>
                    <a:pt x="57" y="91"/>
                    <a:pt x="56" y="91"/>
                  </a:cubicBezTo>
                  <a:cubicBezTo>
                    <a:pt x="56" y="91"/>
                    <a:pt x="56" y="91"/>
                    <a:pt x="56" y="91"/>
                  </a:cubicBezTo>
                  <a:cubicBezTo>
                    <a:pt x="55" y="91"/>
                    <a:pt x="54" y="90"/>
                    <a:pt x="53" y="89"/>
                  </a:cubicBezTo>
                  <a:cubicBezTo>
                    <a:pt x="53" y="89"/>
                    <a:pt x="42" y="78"/>
                    <a:pt x="5" y="91"/>
                  </a:cubicBezTo>
                  <a:cubicBezTo>
                    <a:pt x="4" y="91"/>
                    <a:pt x="2" y="91"/>
                    <a:pt x="1" y="90"/>
                  </a:cubicBezTo>
                  <a:cubicBezTo>
                    <a:pt x="0" y="89"/>
                    <a:pt x="0" y="88"/>
                    <a:pt x="0" y="87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2"/>
                    <a:pt x="1" y="11"/>
                    <a:pt x="2" y="10"/>
                  </a:cubicBezTo>
                  <a:cubicBezTo>
                    <a:pt x="4" y="10"/>
                    <a:pt x="35" y="0"/>
                    <a:pt x="56" y="9"/>
                  </a:cubicBezTo>
                  <a:cubicBezTo>
                    <a:pt x="76" y="0"/>
                    <a:pt x="108" y="10"/>
                    <a:pt x="110" y="10"/>
                  </a:cubicBezTo>
                  <a:cubicBezTo>
                    <a:pt x="111" y="11"/>
                    <a:pt x="112" y="12"/>
                    <a:pt x="112" y="14"/>
                  </a:cubicBezTo>
                  <a:cubicBezTo>
                    <a:pt x="112" y="87"/>
                    <a:pt x="112" y="87"/>
                    <a:pt x="112" y="87"/>
                  </a:cubicBezTo>
                  <a:cubicBezTo>
                    <a:pt x="112" y="88"/>
                    <a:pt x="112" y="89"/>
                    <a:pt x="111" y="90"/>
                  </a:cubicBezTo>
                  <a:cubicBezTo>
                    <a:pt x="110" y="91"/>
                    <a:pt x="109" y="91"/>
                    <a:pt x="108" y="91"/>
                  </a:cubicBezTo>
                  <a:close/>
                  <a:moveTo>
                    <a:pt x="36" y="77"/>
                  </a:moveTo>
                  <a:cubicBezTo>
                    <a:pt x="46" y="77"/>
                    <a:pt x="52" y="79"/>
                    <a:pt x="56" y="82"/>
                  </a:cubicBezTo>
                  <a:cubicBezTo>
                    <a:pt x="62" y="78"/>
                    <a:pt x="76" y="73"/>
                    <a:pt x="104" y="81"/>
                  </a:cubicBezTo>
                  <a:cubicBezTo>
                    <a:pt x="104" y="17"/>
                    <a:pt x="104" y="17"/>
                    <a:pt x="104" y="17"/>
                  </a:cubicBezTo>
                  <a:cubicBezTo>
                    <a:pt x="96" y="15"/>
                    <a:pt x="72" y="9"/>
                    <a:pt x="58" y="17"/>
                  </a:cubicBezTo>
                  <a:cubicBezTo>
                    <a:pt x="57" y="18"/>
                    <a:pt x="55" y="18"/>
                    <a:pt x="54" y="17"/>
                  </a:cubicBezTo>
                  <a:cubicBezTo>
                    <a:pt x="40" y="9"/>
                    <a:pt x="16" y="15"/>
                    <a:pt x="8" y="17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19" y="78"/>
                    <a:pt x="28" y="77"/>
                    <a:pt x="36" y="77"/>
                  </a:cubicBezTo>
                  <a:close/>
                </a:path>
              </a:pathLst>
            </a:custGeom>
            <a:grpFill/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5705476" y="2851150"/>
              <a:ext cx="26988" cy="2698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4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1" y="7"/>
                    <a:pt x="0" y="6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0"/>
                    <a:pt x="6" y="0"/>
                    <a:pt x="7" y="1"/>
                  </a:cubicBezTo>
                  <a:cubicBezTo>
                    <a:pt x="8" y="2"/>
                    <a:pt x="8" y="4"/>
                    <a:pt x="8" y="6"/>
                  </a:cubicBezTo>
                  <a:cubicBezTo>
                    <a:pt x="7" y="7"/>
                    <a:pt x="6" y="8"/>
                    <a:pt x="4" y="8"/>
                  </a:cubicBezTo>
                  <a:close/>
                </a:path>
              </a:pathLst>
            </a:custGeom>
            <a:grpFill/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5711826" y="2608263"/>
              <a:ext cx="14288" cy="263525"/>
            </a:xfrm>
            <a:custGeom>
              <a:avLst/>
              <a:gdLst/>
              <a:ahLst/>
              <a:cxnLst/>
              <a:rect l="l" t="t" r="r" b="b"/>
              <a:pathLst>
                <a:path w="4" h="77">
                  <a:moveTo>
                    <a:pt x="2" y="77"/>
                  </a:moveTo>
                  <a:cubicBezTo>
                    <a:pt x="1" y="77"/>
                    <a:pt x="0" y="76"/>
                    <a:pt x="0" y="7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4" y="76"/>
                    <a:pt x="3" y="77"/>
                    <a:pt x="2" y="77"/>
                  </a:cubicBezTo>
                  <a:close/>
                </a:path>
              </a:pathLst>
            </a:custGeom>
            <a:grpFill/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5691188" y="2874963"/>
              <a:ext cx="55563" cy="44450"/>
            </a:xfrm>
            <a:custGeom>
              <a:avLst/>
              <a:gdLst/>
              <a:ahLst/>
              <a:cxnLst/>
              <a:rect l="l" t="t" r="r" b="b"/>
              <a:pathLst>
                <a:path w="16" h="13">
                  <a:moveTo>
                    <a:pt x="14" y="13"/>
                  </a:moveTo>
                  <a:cubicBezTo>
                    <a:pt x="2" y="13"/>
                    <a:pt x="2" y="13"/>
                    <a:pt x="2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0" y="5"/>
                    <a:pt x="3" y="0"/>
                    <a:pt x="8" y="0"/>
                  </a:cubicBezTo>
                  <a:cubicBezTo>
                    <a:pt x="13" y="0"/>
                    <a:pt x="16" y="5"/>
                    <a:pt x="16" y="11"/>
                  </a:cubicBezTo>
                  <a:cubicBezTo>
                    <a:pt x="16" y="12"/>
                    <a:pt x="15" y="13"/>
                    <a:pt x="14" y="13"/>
                  </a:cubicBezTo>
                  <a:close/>
                  <a:moveTo>
                    <a:pt x="4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1" y="6"/>
                    <a:pt x="10" y="4"/>
                    <a:pt x="8" y="4"/>
                  </a:cubicBezTo>
                  <a:cubicBezTo>
                    <a:pt x="6" y="4"/>
                    <a:pt x="4" y="6"/>
                    <a:pt x="4" y="9"/>
                  </a:cubicBezTo>
                  <a:close/>
                </a:path>
              </a:pathLst>
            </a:custGeom>
            <a:grpFill/>
            <a:ln>
              <a:headEnd type="none"/>
              <a:tailEnd type="none"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10966561" y="-366316"/>
            <a:ext cx="965460" cy="2405173"/>
            <a:chOff x="10715891" y="-414327"/>
            <a:chExt cx="1152915" cy="2872164"/>
          </a:xfrm>
        </p:grpSpPr>
        <p:sp>
          <p:nvSpPr>
            <p:cNvPr id="13" name="AutoShape 13"/>
            <p:cNvSpPr/>
            <p:nvPr/>
          </p:nvSpPr>
          <p:spPr>
            <a:xfrm rot="2580000">
              <a:off x="10715891" y="-386573"/>
              <a:ext cx="347869" cy="1989386"/>
            </a:xfrm>
            <a:custGeom>
              <a:avLst/>
              <a:gdLst/>
              <a:ahLst/>
              <a:cxnLst/>
              <a:rect l="l" t="t" r="r" b="b"/>
              <a:pathLst>
                <a:path w="347869" h="1989386">
                  <a:moveTo>
                    <a:pt x="0" y="324983"/>
                  </a:moveTo>
                  <a:lnTo>
                    <a:pt x="347869" y="0"/>
                  </a:lnTo>
                  <a:lnTo>
                    <a:pt x="347869" y="1815451"/>
                  </a:lnTo>
                  <a:cubicBezTo>
                    <a:pt x="347869" y="1911513"/>
                    <a:pt x="269996" y="1989386"/>
                    <a:pt x="173934" y="1989386"/>
                  </a:cubicBezTo>
                  <a:lnTo>
                    <a:pt x="173935" y="1989385"/>
                  </a:lnTo>
                  <a:cubicBezTo>
                    <a:pt x="77873" y="1989385"/>
                    <a:pt x="0" y="1911512"/>
                    <a:pt x="0" y="1815450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 rot="2580000">
              <a:off x="11008124" y="-414327"/>
              <a:ext cx="347870" cy="2872164"/>
            </a:xfrm>
            <a:custGeom>
              <a:avLst/>
              <a:gdLst/>
              <a:ahLst/>
              <a:cxnLst/>
              <a:rect l="l" t="t" r="r" b="b"/>
              <a:pathLst>
                <a:path w="347870" h="2872164">
                  <a:moveTo>
                    <a:pt x="0" y="200317"/>
                  </a:moveTo>
                  <a:lnTo>
                    <a:pt x="214424" y="0"/>
                  </a:lnTo>
                  <a:lnTo>
                    <a:pt x="347870" y="142844"/>
                  </a:lnTo>
                  <a:lnTo>
                    <a:pt x="347869" y="2698229"/>
                  </a:lnTo>
                  <a:cubicBezTo>
                    <a:pt x="347869" y="2794291"/>
                    <a:pt x="269996" y="2872164"/>
                    <a:pt x="173934" y="2872164"/>
                  </a:cubicBezTo>
                  <a:lnTo>
                    <a:pt x="173935" y="2872163"/>
                  </a:lnTo>
                  <a:cubicBezTo>
                    <a:pt x="77873" y="2872163"/>
                    <a:pt x="0" y="2794290"/>
                    <a:pt x="0" y="2698228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 rot="2580000">
              <a:off x="11520936" y="284880"/>
              <a:ext cx="347870" cy="1828813"/>
            </a:xfrm>
            <a:custGeom>
              <a:avLst/>
              <a:gdLst/>
              <a:ahLst/>
              <a:cxnLst/>
              <a:rect l="l" t="t" r="r" b="b"/>
              <a:pathLst>
                <a:path w="347870" h="1828813">
                  <a:moveTo>
                    <a:pt x="0" y="0"/>
                  </a:moveTo>
                  <a:lnTo>
                    <a:pt x="347870" y="372368"/>
                  </a:lnTo>
                  <a:lnTo>
                    <a:pt x="347869" y="1654878"/>
                  </a:lnTo>
                  <a:cubicBezTo>
                    <a:pt x="347869" y="1750940"/>
                    <a:pt x="269996" y="1828813"/>
                    <a:pt x="173934" y="1828813"/>
                  </a:cubicBezTo>
                  <a:lnTo>
                    <a:pt x="173935" y="1828812"/>
                  </a:lnTo>
                  <a:cubicBezTo>
                    <a:pt x="77873" y="1828812"/>
                    <a:pt x="0" y="1750939"/>
                    <a:pt x="0" y="1654877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grpSp>
        <p:nvGrpSpPr>
          <p:cNvPr id="16" name="Group 16"/>
          <p:cNvGrpSpPr/>
          <p:nvPr/>
        </p:nvGrpSpPr>
        <p:grpSpPr>
          <a:xfrm rot="10800000">
            <a:off x="259979" y="4819142"/>
            <a:ext cx="965460" cy="2405173"/>
            <a:chOff x="10715891" y="-414327"/>
            <a:chExt cx="1152915" cy="2872164"/>
          </a:xfrm>
        </p:grpSpPr>
        <p:sp>
          <p:nvSpPr>
            <p:cNvPr id="17" name="AutoShape 17"/>
            <p:cNvSpPr/>
            <p:nvPr/>
          </p:nvSpPr>
          <p:spPr>
            <a:xfrm rot="2580000">
              <a:off x="10715891" y="-386573"/>
              <a:ext cx="347869" cy="1989386"/>
            </a:xfrm>
            <a:custGeom>
              <a:avLst/>
              <a:gdLst/>
              <a:ahLst/>
              <a:cxnLst/>
              <a:rect l="l" t="t" r="r" b="b"/>
              <a:pathLst>
                <a:path w="347869" h="1989386">
                  <a:moveTo>
                    <a:pt x="0" y="324983"/>
                  </a:moveTo>
                  <a:lnTo>
                    <a:pt x="347869" y="0"/>
                  </a:lnTo>
                  <a:lnTo>
                    <a:pt x="347869" y="1815451"/>
                  </a:lnTo>
                  <a:cubicBezTo>
                    <a:pt x="347869" y="1911513"/>
                    <a:pt x="269996" y="1989386"/>
                    <a:pt x="173934" y="1989386"/>
                  </a:cubicBezTo>
                  <a:lnTo>
                    <a:pt x="173935" y="1989385"/>
                  </a:lnTo>
                  <a:cubicBezTo>
                    <a:pt x="77873" y="1989385"/>
                    <a:pt x="0" y="1911512"/>
                    <a:pt x="0" y="1815450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 rot="2580000">
              <a:off x="11008124" y="-414327"/>
              <a:ext cx="347870" cy="2872164"/>
            </a:xfrm>
            <a:custGeom>
              <a:avLst/>
              <a:gdLst/>
              <a:ahLst/>
              <a:cxnLst/>
              <a:rect l="l" t="t" r="r" b="b"/>
              <a:pathLst>
                <a:path w="347870" h="2872164">
                  <a:moveTo>
                    <a:pt x="0" y="200317"/>
                  </a:moveTo>
                  <a:lnTo>
                    <a:pt x="214424" y="0"/>
                  </a:lnTo>
                  <a:lnTo>
                    <a:pt x="347870" y="142844"/>
                  </a:lnTo>
                  <a:lnTo>
                    <a:pt x="347869" y="2698229"/>
                  </a:lnTo>
                  <a:cubicBezTo>
                    <a:pt x="347869" y="2794291"/>
                    <a:pt x="269996" y="2872164"/>
                    <a:pt x="173934" y="2872164"/>
                  </a:cubicBezTo>
                  <a:lnTo>
                    <a:pt x="173935" y="2872163"/>
                  </a:lnTo>
                  <a:cubicBezTo>
                    <a:pt x="77873" y="2872163"/>
                    <a:pt x="0" y="2794290"/>
                    <a:pt x="0" y="2698228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 rot="2580000">
              <a:off x="11520936" y="284880"/>
              <a:ext cx="347870" cy="1828813"/>
            </a:xfrm>
            <a:custGeom>
              <a:avLst/>
              <a:gdLst/>
              <a:ahLst/>
              <a:cxnLst/>
              <a:rect l="l" t="t" r="r" b="b"/>
              <a:pathLst>
                <a:path w="347870" h="1828813">
                  <a:moveTo>
                    <a:pt x="0" y="0"/>
                  </a:moveTo>
                  <a:lnTo>
                    <a:pt x="347870" y="372368"/>
                  </a:lnTo>
                  <a:lnTo>
                    <a:pt x="347869" y="1654878"/>
                  </a:lnTo>
                  <a:cubicBezTo>
                    <a:pt x="347869" y="1750940"/>
                    <a:pt x="269996" y="1828813"/>
                    <a:pt x="173934" y="1828813"/>
                  </a:cubicBezTo>
                  <a:lnTo>
                    <a:pt x="173935" y="1828812"/>
                  </a:lnTo>
                  <a:cubicBezTo>
                    <a:pt x="77873" y="1828812"/>
                    <a:pt x="0" y="1750939"/>
                    <a:pt x="0" y="1654877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73752" y="375593"/>
            <a:ext cx="554044" cy="621348"/>
            <a:chOff x="383377" y="269716"/>
            <a:chExt cx="554044" cy="621348"/>
          </a:xfrm>
        </p:grpSpPr>
        <p:sp>
          <p:nvSpPr>
            <p:cNvPr id="3" name="AutoShape 3"/>
            <p:cNvSpPr/>
            <p:nvPr/>
          </p:nvSpPr>
          <p:spPr>
            <a:xfrm>
              <a:off x="383377" y="269716"/>
              <a:ext cx="554044" cy="277217"/>
            </a:xfrm>
            <a:prstGeom prst="triangle">
              <a:avLst/>
            </a:prstGeom>
            <a:solidFill>
              <a:srgbClr val="F0F0F0">
                <a:alpha val="100000"/>
                <a:lumMod val="9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08738" y="387743"/>
              <a:ext cx="503322" cy="503321"/>
            </a:xfrm>
            <a:prstGeom prst="diamond">
              <a:avLst/>
            </a:prstGeom>
            <a:solidFill>
              <a:srgbClr val="28666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8666D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443230" y="442277"/>
            <a:ext cx="11305540" cy="5973445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100000"/>
              <a:lumMod val="85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032729"/>
            <a:ext cx="12192000" cy="3825271"/>
          </a:xfrm>
          <a:prstGeom prst="rect">
            <a:avLst/>
          </a:prstGeom>
          <a:solidFill>
            <a:srgbClr val="28666D">
              <a:alpha val="100000"/>
            </a:srgbClr>
          </a:solidFill>
          <a:ln>
            <a:prstDash val="solid"/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 r="45319"/>
          <a:stretch>
            <a:fillRect/>
          </a:stretch>
        </p:blipFill>
        <p:spPr>
          <a:xfrm>
            <a:off x="11098923" y="0"/>
            <a:ext cx="1093077" cy="5958043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>
            <a:off x="1093073" y="0"/>
            <a:ext cx="10005849" cy="5958043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  <a:lumMod val="95000"/>
              </a:srgbClr>
            </a:solidFill>
            <a:prstDash val="solid"/>
            <a:headEnd type="none"/>
            <a:tailEnd type="none"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100000"/>
          </a:blip>
          <a:srcRect r="45319"/>
          <a:stretch>
            <a:fillRect/>
          </a:stretch>
        </p:blipFill>
        <p:spPr>
          <a:xfrm rot="10800000">
            <a:off x="-3" y="-12700"/>
            <a:ext cx="1093076" cy="5958043"/>
          </a:xfrm>
          <a:prstGeom prst="rect">
            <a:avLst/>
          </a:prstGeom>
          <a:ln>
            <a:headEnd type="none"/>
            <a:tailEnd type="none"/>
          </a:ln>
        </p:spPr>
      </p:pic>
      <p:grpSp>
        <p:nvGrpSpPr>
          <p:cNvPr id="6" name="Group 6"/>
          <p:cNvGrpSpPr/>
          <p:nvPr/>
        </p:nvGrpSpPr>
        <p:grpSpPr>
          <a:xfrm rot="0">
            <a:off x="10966561" y="-366316"/>
            <a:ext cx="965460" cy="2405173"/>
            <a:chOff x="10715891" y="-414327"/>
            <a:chExt cx="1152915" cy="2872164"/>
          </a:xfrm>
        </p:grpSpPr>
        <p:sp>
          <p:nvSpPr>
            <p:cNvPr id="7" name="AutoShape 7"/>
            <p:cNvSpPr/>
            <p:nvPr/>
          </p:nvSpPr>
          <p:spPr>
            <a:xfrm rot="2580000">
              <a:off x="10715891" y="-386573"/>
              <a:ext cx="347869" cy="1989386"/>
            </a:xfrm>
            <a:custGeom>
              <a:avLst/>
              <a:gdLst/>
              <a:ahLst/>
              <a:cxnLst/>
              <a:rect l="l" t="t" r="r" b="b"/>
              <a:pathLst>
                <a:path w="347869" h="1989386">
                  <a:moveTo>
                    <a:pt x="0" y="324983"/>
                  </a:moveTo>
                  <a:lnTo>
                    <a:pt x="347869" y="0"/>
                  </a:lnTo>
                  <a:lnTo>
                    <a:pt x="347869" y="1815451"/>
                  </a:lnTo>
                  <a:cubicBezTo>
                    <a:pt x="347869" y="1911513"/>
                    <a:pt x="269996" y="1989386"/>
                    <a:pt x="173934" y="1989386"/>
                  </a:cubicBezTo>
                  <a:lnTo>
                    <a:pt x="173935" y="1989385"/>
                  </a:lnTo>
                  <a:cubicBezTo>
                    <a:pt x="77873" y="1989385"/>
                    <a:pt x="0" y="1911512"/>
                    <a:pt x="0" y="1815450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rot="2580000">
              <a:off x="11008124" y="-414327"/>
              <a:ext cx="347870" cy="2872164"/>
            </a:xfrm>
            <a:custGeom>
              <a:avLst/>
              <a:gdLst/>
              <a:ahLst/>
              <a:cxnLst/>
              <a:rect l="l" t="t" r="r" b="b"/>
              <a:pathLst>
                <a:path w="347870" h="2872164">
                  <a:moveTo>
                    <a:pt x="0" y="200317"/>
                  </a:moveTo>
                  <a:lnTo>
                    <a:pt x="214424" y="0"/>
                  </a:lnTo>
                  <a:lnTo>
                    <a:pt x="347870" y="142844"/>
                  </a:lnTo>
                  <a:lnTo>
                    <a:pt x="347869" y="2698229"/>
                  </a:lnTo>
                  <a:cubicBezTo>
                    <a:pt x="347869" y="2794291"/>
                    <a:pt x="269996" y="2872164"/>
                    <a:pt x="173934" y="2872164"/>
                  </a:cubicBezTo>
                  <a:lnTo>
                    <a:pt x="173935" y="2872163"/>
                  </a:lnTo>
                  <a:cubicBezTo>
                    <a:pt x="77873" y="2872163"/>
                    <a:pt x="0" y="2794290"/>
                    <a:pt x="0" y="2698228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rot="2580000">
              <a:off x="11520936" y="284880"/>
              <a:ext cx="347870" cy="1828813"/>
            </a:xfrm>
            <a:custGeom>
              <a:avLst/>
              <a:gdLst/>
              <a:ahLst/>
              <a:cxnLst/>
              <a:rect l="l" t="t" r="r" b="b"/>
              <a:pathLst>
                <a:path w="347870" h="1828813">
                  <a:moveTo>
                    <a:pt x="0" y="0"/>
                  </a:moveTo>
                  <a:lnTo>
                    <a:pt x="347870" y="372368"/>
                  </a:lnTo>
                  <a:lnTo>
                    <a:pt x="347869" y="1654878"/>
                  </a:lnTo>
                  <a:cubicBezTo>
                    <a:pt x="347869" y="1750940"/>
                    <a:pt x="269996" y="1828813"/>
                    <a:pt x="173934" y="1828813"/>
                  </a:cubicBezTo>
                  <a:lnTo>
                    <a:pt x="173935" y="1828812"/>
                  </a:lnTo>
                  <a:cubicBezTo>
                    <a:pt x="77873" y="1828812"/>
                    <a:pt x="0" y="1750939"/>
                    <a:pt x="0" y="1654877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grpSp>
        <p:nvGrpSpPr>
          <p:cNvPr id="10" name="Group 10"/>
          <p:cNvGrpSpPr/>
          <p:nvPr/>
        </p:nvGrpSpPr>
        <p:grpSpPr>
          <a:xfrm rot="10800000">
            <a:off x="259979" y="4819142"/>
            <a:ext cx="965460" cy="2405173"/>
            <a:chOff x="10715891" y="-414327"/>
            <a:chExt cx="1152915" cy="2872164"/>
          </a:xfrm>
        </p:grpSpPr>
        <p:sp>
          <p:nvSpPr>
            <p:cNvPr id="11" name="AutoShape 11"/>
            <p:cNvSpPr/>
            <p:nvPr/>
          </p:nvSpPr>
          <p:spPr>
            <a:xfrm rot="2580000">
              <a:off x="10715891" y="-386573"/>
              <a:ext cx="347869" cy="1989386"/>
            </a:xfrm>
            <a:custGeom>
              <a:avLst/>
              <a:gdLst/>
              <a:ahLst/>
              <a:cxnLst/>
              <a:rect l="l" t="t" r="r" b="b"/>
              <a:pathLst>
                <a:path w="347869" h="1989386">
                  <a:moveTo>
                    <a:pt x="0" y="324983"/>
                  </a:moveTo>
                  <a:lnTo>
                    <a:pt x="347869" y="0"/>
                  </a:lnTo>
                  <a:lnTo>
                    <a:pt x="347869" y="1815451"/>
                  </a:lnTo>
                  <a:cubicBezTo>
                    <a:pt x="347869" y="1911513"/>
                    <a:pt x="269996" y="1989386"/>
                    <a:pt x="173934" y="1989386"/>
                  </a:cubicBezTo>
                  <a:lnTo>
                    <a:pt x="173935" y="1989385"/>
                  </a:lnTo>
                  <a:cubicBezTo>
                    <a:pt x="77873" y="1989385"/>
                    <a:pt x="0" y="1911512"/>
                    <a:pt x="0" y="1815450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rot="2580000">
              <a:off x="11008124" y="-414327"/>
              <a:ext cx="347870" cy="2872164"/>
            </a:xfrm>
            <a:custGeom>
              <a:avLst/>
              <a:gdLst/>
              <a:ahLst/>
              <a:cxnLst/>
              <a:rect l="l" t="t" r="r" b="b"/>
              <a:pathLst>
                <a:path w="347870" h="2872164">
                  <a:moveTo>
                    <a:pt x="0" y="200317"/>
                  </a:moveTo>
                  <a:lnTo>
                    <a:pt x="214424" y="0"/>
                  </a:lnTo>
                  <a:lnTo>
                    <a:pt x="347870" y="142844"/>
                  </a:lnTo>
                  <a:lnTo>
                    <a:pt x="347869" y="2698229"/>
                  </a:lnTo>
                  <a:cubicBezTo>
                    <a:pt x="347869" y="2794291"/>
                    <a:pt x="269996" y="2872164"/>
                    <a:pt x="173934" y="2872164"/>
                  </a:cubicBezTo>
                  <a:lnTo>
                    <a:pt x="173935" y="2872163"/>
                  </a:lnTo>
                  <a:cubicBezTo>
                    <a:pt x="77873" y="2872163"/>
                    <a:pt x="0" y="2794290"/>
                    <a:pt x="0" y="2698228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rot="2580000">
              <a:off x="11520936" y="284880"/>
              <a:ext cx="347870" cy="1828813"/>
            </a:xfrm>
            <a:custGeom>
              <a:avLst/>
              <a:gdLst/>
              <a:ahLst/>
              <a:cxnLst/>
              <a:rect l="l" t="t" r="r" b="b"/>
              <a:pathLst>
                <a:path w="347870" h="1828813">
                  <a:moveTo>
                    <a:pt x="0" y="0"/>
                  </a:moveTo>
                  <a:lnTo>
                    <a:pt x="347870" y="372368"/>
                  </a:lnTo>
                  <a:lnTo>
                    <a:pt x="347869" y="1654878"/>
                  </a:lnTo>
                  <a:cubicBezTo>
                    <a:pt x="347869" y="1750940"/>
                    <a:pt x="269996" y="1828813"/>
                    <a:pt x="173934" y="1828813"/>
                  </a:cubicBezTo>
                  <a:lnTo>
                    <a:pt x="173935" y="1828812"/>
                  </a:lnTo>
                  <a:cubicBezTo>
                    <a:pt x="77873" y="1828812"/>
                    <a:pt x="0" y="1750939"/>
                    <a:pt x="0" y="1654877"/>
                  </a:cubicBezTo>
                  <a:close/>
                </a:path>
              </a:pathLst>
            </a:custGeom>
            <a:solidFill>
              <a:srgbClr val="F0F0F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14" name="AutoShape 14"/>
          <p:cNvSpPr/>
          <p:nvPr/>
        </p:nvSpPr>
        <p:spPr>
          <a:xfrm flipV="1">
            <a:off x="5969177" y="5186416"/>
            <a:ext cx="253647" cy="218661"/>
          </a:xfrm>
          <a:prstGeom prst="triangle">
            <a:avLst/>
          </a:prstGeom>
          <a:solidFill>
            <a:srgbClr val="28666D">
              <a:alpha val="100000"/>
            </a:srgbClr>
          </a:soli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3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6.png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7.png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3074" y="1792934"/>
            <a:ext cx="10005849" cy="211897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6000" b="1" i="0">
                <a:solidFill>
                  <a:srgbClr val="000000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基于深度学习的</a:t>
            </a:r>
            <a:r>
              <a:rPr lang="en-US" altLang="zh-CN" sz="6000" b="1" i="0">
                <a:solidFill>
                  <a:srgbClr val="000000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5G NR</a:t>
            </a:r>
            <a:r>
              <a:rPr lang="zh-CN" altLang="en-US" sz="6000" b="1" i="0">
                <a:solidFill>
                  <a:srgbClr val="000000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信道估计技术报告</a:t>
            </a:r>
            <a:endParaRPr lang="zh-CN" altLang="en-US" sz="6000" b="1" i="0">
              <a:solidFill>
                <a:srgbClr val="000000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Times New Roman" panose="0202060305040502030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826086" y="4641803"/>
            <a:ext cx="3093453" cy="415865"/>
          </a:xfrm>
          <a:prstGeom prst="roundRect">
            <a:avLst>
              <a:gd name="adj" fmla="val 50000"/>
            </a:avLst>
          </a:prstGeom>
          <a:solidFill>
            <a:srgbClr val="28666D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zh-CN" altLang="en-US" sz="1600" b="0" i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宋体" panose="02010600030101010101" pitchFamily="2" charset="-122"/>
                <a:cs typeface="Noto Sans S Chinese Medium"/>
              </a:rPr>
              <a:t>苏妍宁</a:t>
            </a:r>
            <a:endParaRPr lang="zh-CN" altLang="en-US" sz="1600" b="0" i="0">
              <a:solidFill>
                <a:srgbClr val="FFFFFF">
                  <a:alpha val="100000"/>
                </a:srgbClr>
              </a:solidFill>
              <a:latin typeface="Times New Roman" panose="02020603050405020304" charset="0"/>
              <a:ea typeface="宋体" panose="02010600030101010101" pitchFamily="2" charset="-122"/>
              <a:cs typeface="Noto Sans S Chinese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225775" y="4641803"/>
            <a:ext cx="3093453" cy="415865"/>
          </a:xfrm>
          <a:prstGeom prst="roundRect">
            <a:avLst>
              <a:gd name="adj" fmla="val 50000"/>
            </a:avLst>
          </a:prstGeom>
          <a:solidFill>
            <a:srgbClr val="28666D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2026.4.18</a:t>
            </a:r>
            <a:endParaRPr lang="en-US" sz="1600" b="0" i="0">
              <a:solidFill>
                <a:srgbClr val="FFFFFF">
                  <a:alpha val="100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fc03a3f-35a1-49f0-934d-ad00558c1b5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200" b="0" i="0">
                <a:solidFill>
                  <a:srgbClr val="2F2F2F">
                    <a:alpha val="100000"/>
                    <a:tint val="75000"/>
                  </a:srgbClr>
                </a:solidFill>
                <a:latin typeface="Noto Sans S Chinese Medium"/>
                <a:ea typeface="Noto Sans S Chinese Medium"/>
                <a:cs typeface="Noto Sans S Chinese Medium"/>
              </a:rPr>
              <a:t>4</a:t>
            </a:r>
            <a:endParaRPr lang="en-US" sz="1200" b="0" i="0">
              <a:solidFill>
                <a:srgbClr val="2F2F2F">
                  <a:alpha val="100000"/>
                  <a:tint val="75000"/>
                </a:srgbClr>
              </a:solidFill>
              <a:latin typeface="Noto Sans S Chinese Medium"/>
              <a:ea typeface="Noto Sans S Chinese Medium"/>
              <a:cs typeface="Noto Sans S Chinese Medium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868475" y="1159715"/>
            <a:ext cx="10178610" cy="4988991"/>
            <a:chOff x="868475" y="1159715"/>
            <a:chExt cx="10178610" cy="4988991"/>
          </a:xfrm>
        </p:grpSpPr>
        <p:sp>
          <p:nvSpPr>
            <p:cNvPr id="4" name="AutoShape 4"/>
            <p:cNvSpPr/>
            <p:nvPr/>
          </p:nvSpPr>
          <p:spPr>
            <a:xfrm>
              <a:off x="868475" y="1282700"/>
              <a:ext cx="4377298" cy="4699000"/>
            </a:xfrm>
            <a:custGeom>
              <a:avLst/>
              <a:gdLst/>
              <a:ahLst/>
              <a:cxnLst/>
              <a:rect l="l" t="t" r="r" b="b"/>
              <a:pathLst>
                <a:path w="4377298" h="4699000">
                  <a:moveTo>
                    <a:pt x="2027796" y="0"/>
                  </a:moveTo>
                  <a:cubicBezTo>
                    <a:pt x="3325390" y="0"/>
                    <a:pt x="4377298" y="1051907"/>
                    <a:pt x="4377298" y="2349500"/>
                  </a:cubicBezTo>
                  <a:cubicBezTo>
                    <a:pt x="4377298" y="3647093"/>
                    <a:pt x="3325390" y="4699000"/>
                    <a:pt x="2027796" y="4699000"/>
                  </a:cubicBezTo>
                  <a:cubicBezTo>
                    <a:pt x="1216800" y="4699000"/>
                    <a:pt x="501775" y="4288099"/>
                    <a:pt x="79552" y="3663128"/>
                  </a:cubicBezTo>
                  <a:lnTo>
                    <a:pt x="0" y="3532181"/>
                  </a:lnTo>
                  <a:lnTo>
                    <a:pt x="0" y="1166819"/>
                  </a:lnTo>
                  <a:lnTo>
                    <a:pt x="79552" y="1035872"/>
                  </a:lnTo>
                  <a:cubicBezTo>
                    <a:pt x="501775" y="410901"/>
                    <a:pt x="1216800" y="0"/>
                    <a:pt x="2027796" y="0"/>
                  </a:cubicBezTo>
                  <a:close/>
                </a:path>
              </a:pathLst>
            </a:custGeom>
            <a:ln w="12700">
              <a:gradFill>
                <a:gsLst>
                  <a:gs pos="0">
                    <a:srgbClr val="28666D">
                      <a:alpha val="100000"/>
                    </a:srgbClr>
                  </a:gs>
                  <a:gs pos="82999">
                    <a:srgbClr val="28666D">
                      <a:alpha val="0"/>
                    </a:srgbClr>
                  </a:gs>
                </a:gsLst>
                <a:lin ang="10800000"/>
              </a:gra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4044169" y="1159715"/>
              <a:ext cx="6482216" cy="943943"/>
              <a:chOff x="4044169" y="1159715"/>
              <a:chExt cx="6482216" cy="943943"/>
            </a:xfrm>
          </p:grpSpPr>
          <p:sp>
            <p:nvSpPr>
              <p:cNvPr id="6" name="TextBox 6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059780" y="1175908"/>
                <a:ext cx="720000" cy="9277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2800" b="0" i="0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" name="AutoShape 7"/>
              <p:cNvSpPr/>
              <p:nvPr/>
            </p:nvSpPr>
            <p:spPr>
              <a:xfrm>
                <a:off x="4044169" y="1545142"/>
                <a:ext cx="191822" cy="191822"/>
              </a:xfrm>
              <a:prstGeom prst="ellipse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943564" y="1159715"/>
                <a:ext cx="4582821" cy="9362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="1" i="0" strike="noStrike">
                    <a:solidFill>
                      <a:srgbClr val="000000">
                        <a:alpha val="100000"/>
                      </a:srgbClr>
                    </a:solidFill>
                    <a:latin typeface="Noto Sans S Chinese Bold"/>
                    <a:ea typeface="Noto Sans S Chinese Bold"/>
                    <a:cs typeface="Noto Sans S Chinese Bold"/>
                  </a:rPr>
                  <a:t>研究背景与意义</a:t>
                </a:r>
                <a:endParaRPr lang="en-US" sz="2800" b="1" i="0" strike="noStrike">
                  <a:solidFill>
                    <a:srgbClr val="000000">
                      <a:alpha val="100000"/>
                    </a:srgbClr>
                  </a:solidFill>
                  <a:latin typeface="Noto Sans S Chinese Bold"/>
                  <a:ea typeface="Noto Sans S Chinese Bold"/>
                  <a:cs typeface="Noto Sans S Chinese Bold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5053951" y="2511053"/>
              <a:ext cx="5956941" cy="936266"/>
              <a:chOff x="5053951" y="2511053"/>
              <a:chExt cx="5956941" cy="936266"/>
            </a:xfrm>
          </p:grpSpPr>
          <p:sp>
            <p:nvSpPr>
              <p:cNvPr id="10" name="TextBox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808975" y="2567496"/>
                <a:ext cx="720000" cy="8580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2800" b="0" i="0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5053951" y="2887087"/>
                <a:ext cx="191822" cy="191822"/>
              </a:xfrm>
              <a:prstGeom prst="ellipse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705586" y="2511053"/>
                <a:ext cx="4305306" cy="9362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="1" i="0" strike="noStrike">
                    <a:solidFill>
                      <a:srgbClr val="000000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OFDM系统与模型</a:t>
                </a:r>
                <a:endParaRPr lang="en-US" sz="2800" b="1" i="0" strike="noStrike">
                  <a:solidFill>
                    <a:srgbClr val="000000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5053951" y="3832039"/>
              <a:ext cx="5993134" cy="966291"/>
              <a:chOff x="5053951" y="3832039"/>
              <a:chExt cx="5993134" cy="966291"/>
            </a:xfrm>
          </p:grpSpPr>
          <p:sp>
            <p:nvSpPr>
              <p:cNvPr id="14" name="TextBox 14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808975" y="3832039"/>
                <a:ext cx="720000" cy="9277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2800" b="0" i="0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5053951" y="4200003"/>
                <a:ext cx="191822" cy="191822"/>
              </a:xfrm>
              <a:prstGeom prst="ellipse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705586" y="3862064"/>
                <a:ext cx="4341499" cy="9362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="1" i="0" strike="noStrike">
                    <a:solidFill>
                      <a:srgbClr val="000000">
                        <a:alpha val="100000"/>
                      </a:srgbClr>
                    </a:solidFill>
                    <a:latin typeface="Noto Sans S Chinese Bold"/>
                    <a:ea typeface="Noto Sans S Chinese Bold"/>
                    <a:cs typeface="Noto Sans S Chinese Bold"/>
                  </a:rPr>
                  <a:t>三种信道估计算法</a:t>
                </a:r>
                <a:endParaRPr lang="en-US" sz="2800" b="1" i="0" strike="noStrike">
                  <a:solidFill>
                    <a:srgbClr val="000000">
                      <a:alpha val="100000"/>
                    </a:srgbClr>
                  </a:solidFill>
                  <a:latin typeface="Noto Sans S Chinese Bold"/>
                  <a:ea typeface="Noto Sans S Chinese Bold"/>
                  <a:cs typeface="Noto Sans S Chinese Bold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4044169" y="5159469"/>
              <a:ext cx="6686687" cy="989237"/>
              <a:chOff x="4044169" y="5159469"/>
              <a:chExt cx="6686687" cy="989237"/>
            </a:xfrm>
          </p:grpSpPr>
          <p:sp>
            <p:nvSpPr>
              <p:cNvPr id="18" name="TextBox 1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059947" y="5159469"/>
                <a:ext cx="720000" cy="92775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800" b="0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4</a:t>
                </a:r>
                <a:endParaRPr lang="en-US" sz="2800" b="0" i="0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4044169" y="5527433"/>
                <a:ext cx="191822" cy="191822"/>
              </a:xfrm>
              <a:prstGeom prst="ellipse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TextBox 2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019663" y="5212440"/>
                <a:ext cx="4711193" cy="93626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800" b="1" i="0" strike="noStrike">
                    <a:solidFill>
                      <a:srgbClr val="000000">
                        <a:alpha val="100000"/>
                      </a:srgbClr>
                    </a:solidFill>
                    <a:latin typeface="Noto Sans S Chinese Bold"/>
                    <a:ea typeface="Noto Sans S Chinese Bold"/>
                    <a:cs typeface="Noto Sans S Chinese Bold"/>
                  </a:rPr>
                  <a:t>实验结果与结论</a:t>
                </a:r>
                <a:endParaRPr lang="en-US" sz="2800" b="1" i="0" strike="noStrike">
                  <a:solidFill>
                    <a:srgbClr val="000000">
                      <a:alpha val="100000"/>
                    </a:srgbClr>
                  </a:solidFill>
                  <a:latin typeface="Noto Sans S Chinese Bold"/>
                  <a:ea typeface="Noto Sans S Chinese Bold"/>
                  <a:cs typeface="Noto Sans S Chinese Bold"/>
                </a:endParaRPr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8666D">
                    <a:alpha val="100000"/>
                  </a:srgbClr>
                </a:solidFill>
                <a:latin typeface="Noto Sans S Chinese Bold"/>
                <a:ea typeface="Noto Sans S Chinese Bold"/>
                <a:cs typeface="Noto Sans S Chinese Bold"/>
              </a:rPr>
              <a:t>目录</a:t>
            </a:r>
            <a:endParaRPr lang="en-US" sz="3200" b="1" i="0">
              <a:solidFill>
                <a:srgbClr val="28666D">
                  <a:alpha val="100000"/>
                </a:srgbClr>
              </a:solidFill>
              <a:latin typeface="Noto Sans S Chinese Bold"/>
              <a:ea typeface="Noto Sans S Chinese Bold"/>
              <a:cs typeface="Noto Sans S Chines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1670" y="2666687"/>
            <a:ext cx="7938500" cy="12866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FFFFFF">
                    <a:alpha val="100000"/>
                  </a:srgbClr>
                </a:solidFill>
                <a:latin typeface="Noto Sans S Chinese Bold"/>
                <a:ea typeface="Noto Sans S Chinese Bold"/>
                <a:cs typeface="Noto Sans S Chinese Bold"/>
              </a:rPr>
              <a:t>研究背景与意义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Noto Sans S Chinese Medium"/>
                <a:ea typeface="Noto Sans S Chinese Medium"/>
                <a:cs typeface="Noto Sans S Chinese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e4c110d-b764-454b-9018-a5263d72a71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4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4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1"/>
            <a:ext cx="10858501" cy="5003799"/>
            <a:chOff x="660399" y="1130301"/>
            <a:chExt cx="10858501" cy="5003799"/>
          </a:xfrm>
        </p:grpSpPr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i="0" strike="noStrike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rPr>
                <a:t>多径与多普勒效应导致信号严重畸变</a:t>
              </a:r>
              <a:endParaRPr lang="en-US" sz="3200" b="1" i="0" strike="noStrike">
                <a:solidFill>
                  <a:srgbClr val="2F2F2F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Noto Sans S Chinese Bold"/>
              </a:endParaRPr>
            </a:p>
          </p:txBody>
        </p:sp>
        <p:sp>
          <p:nvSpPr>
            <p:cNvPr id="6" name="AutoShape 6"/>
            <p:cNvSpPr/>
            <p:nvPr/>
          </p:nvSpPr>
          <p:spPr>
            <a:xfrm>
              <a:off x="660400" y="2082800"/>
              <a:ext cx="10858500" cy="1711960"/>
            </a:xfrm>
            <a:prstGeom prst="roundRect">
              <a:avLst>
                <a:gd name="adj" fmla="val 50000"/>
              </a:avLst>
            </a:prstGeom>
            <a:ln w="127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 rot="0">
              <a:off x="660400" y="2428261"/>
              <a:ext cx="3338672" cy="3705839"/>
              <a:chOff x="185578" y="2428261"/>
              <a:chExt cx="3338672" cy="370583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多径传播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Noto Sans S Chinese Medium"/>
                  </a:rPr>
                  <a:t>信号经反射、散射形成多条路径叠加，造成频率选择性衰落，即不同频率分量经历不同衰减。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Noto Sans S Chinese Medium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5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01</a:t>
                </a:r>
                <a:endParaRPr lang="en-US" sz="5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420314" y="2428261"/>
              <a:ext cx="3338672" cy="3705839"/>
              <a:chOff x="185578" y="2428261"/>
              <a:chExt cx="3338672" cy="370583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多普勒效应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Noto Sans S Chinese Medium"/>
                  </a:rPr>
                  <a:t>终端移动导致信号频率发生偏移，使信道呈现时变性，增加了估计难度。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Noto Sans S Chinese Medium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5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02</a:t>
                </a:r>
                <a:endParaRPr lang="en-US" sz="5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180228" y="2428261"/>
              <a:ext cx="3338672" cy="3705839"/>
              <a:chOff x="185578" y="2428261"/>
              <a:chExt cx="3338672" cy="370583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185578" y="4090070"/>
                <a:ext cx="3338672" cy="77487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噪声干扰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5578" y="4864941"/>
                <a:ext cx="3338672" cy="126915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接收信号中叠加的加性高斯白噪声（AWGN）会进一步恶化信号质量，影响信道估计的准确性。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91959" y="2428261"/>
                <a:ext cx="1925910" cy="9325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5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03</a:t>
                </a:r>
                <a:endParaRPr lang="en-US" sz="5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Noto Sans S Chinese Bold"/>
              </a:rPr>
              <a:t>无线信道失真</a:t>
            </a:r>
            <a:endParaRPr lang="en-US" sz="36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Noto Sans S Chinese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d12cdc6-0fd8-4aa4-95de-20fbefe00ede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2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2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09303" y="1028414"/>
            <a:ext cx="10909597" cy="5380990"/>
            <a:chOff x="609303" y="1028414"/>
            <a:chExt cx="10909597" cy="5380990"/>
          </a:xfrm>
        </p:grpSpPr>
        <p:sp>
          <p:nvSpPr>
            <p:cNvPr id="6" name="AutoShape 6"/>
            <p:cNvSpPr/>
            <p:nvPr/>
          </p:nvSpPr>
          <p:spPr>
            <a:xfrm>
              <a:off x="10255250" y="5918200"/>
              <a:ext cx="215900" cy="215900"/>
            </a:xfrm>
            <a:prstGeom prst="rect">
              <a:avLst/>
            </a:prstGeom>
            <a:solidFill>
              <a:srgbClr val="2F2F2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0604500" y="5918200"/>
              <a:ext cx="215900" cy="215900"/>
            </a:xfrm>
            <a:prstGeom prst="rect">
              <a:avLst/>
            </a:prstGeom>
            <a:solidFill>
              <a:srgbClr val="2F2F2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0953750" y="5918200"/>
              <a:ext cx="215900" cy="215900"/>
            </a:xfrm>
            <a:prstGeom prst="rect">
              <a:avLst/>
            </a:prstGeom>
            <a:solidFill>
              <a:srgbClr val="2F2F2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1303000" y="5918200"/>
              <a:ext cx="215900" cy="215900"/>
            </a:xfrm>
            <a:prstGeom prst="rect">
              <a:avLst/>
            </a:prstGeom>
            <a:solidFill>
              <a:srgbClr val="2F2F2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0" name="Group 10"/>
            <p:cNvGrpSpPr/>
            <p:nvPr/>
          </p:nvGrpSpPr>
          <p:grpSpPr>
            <a:xfrm rot="0">
              <a:off x="609600" y="1028414"/>
              <a:ext cx="3598842" cy="1927860"/>
              <a:chOff x="609600" y="1028414"/>
              <a:chExt cx="3598842" cy="1927860"/>
            </a:xfrm>
          </p:grpSpPr>
          <p:sp>
            <p:nvSpPr>
              <p:cNvPr id="12" name="TextBox 1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09600" y="1028414"/>
                <a:ext cx="3446441" cy="6885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最小二乘(LS)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62001" y="1676369"/>
                <a:ext cx="3446441" cy="1279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Noto Sans S Chinese Medium"/>
                  </a:rPr>
                  <a:t>核心思想是最小化观测误差，计算简单，无需先验知识。但直接放大噪声，在低信噪比下性能极差。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Noto Sans S Chinese Medium"/>
                </a:endParaRP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762169" y="2590514"/>
              <a:ext cx="3446442" cy="1965960"/>
              <a:chOff x="-149859" y="2590514"/>
              <a:chExt cx="3446442" cy="1965960"/>
            </a:xfrm>
          </p:grpSpPr>
          <p:sp>
            <p:nvSpPr>
              <p:cNvPr id="16" name="TextBox 1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-149859" y="2590514"/>
                <a:ext cx="3446441" cy="6885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最小均方误差(MMSE)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-149858" y="3276569"/>
                <a:ext cx="3446441" cy="1279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Noto Sans S Chinese Medium"/>
                  </a:rPr>
                  <a:t>引入信道统计先验，理论上为最优线性估计。但在实际应用中，精确获取信道统计信息十分困难，限制了其性能。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Noto Sans S Chinese Medium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609303" y="4495514"/>
              <a:ext cx="3599477" cy="1913890"/>
              <a:chOff x="-1214753" y="4495514"/>
              <a:chExt cx="3599477" cy="1913890"/>
            </a:xfrm>
          </p:grpSpPr>
          <p:sp>
            <p:nvSpPr>
              <p:cNvPr id="20" name="TextBox 2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-1214753" y="4495514"/>
                <a:ext cx="3446145" cy="4603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深度学习方法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-1061717" y="5129499"/>
                <a:ext cx="3446441" cy="1279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Noto Sans S Chinese Medium"/>
                  </a:rPr>
                  <a:t>无需精确的先验知识，能够从数据中学习复杂的非线性映射关系，在低信噪比和复杂环境下展现出巨大潜力。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Noto Sans S Chinese Medium"/>
                </a:endParaRPr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Noto Sans S Chinese Bold"/>
              </a:rPr>
              <a:t>传统方法对比</a:t>
            </a:r>
            <a:endParaRPr lang="en-US" sz="32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Noto Sans S Chinese Bold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1078230"/>
            <a:ext cx="6970395" cy="4488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0400" y="2666687"/>
            <a:ext cx="7938500" cy="12866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OFDM系统与模型</a:t>
            </a:r>
            <a:endParaRPr lang="en-US" sz="4800" b="1" i="0">
              <a:solidFill>
                <a:srgbClr val="FFFFFF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Times New Roman" panose="0202060305040502030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3</a:t>
            </a:r>
            <a:endParaRPr lang="en-US" sz="10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f166742-4e0f-4e75-8c6b-f4141e2eb6a2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2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2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60399" y="1130300"/>
            <a:ext cx="10867605" cy="4854937"/>
            <a:chOff x="660399" y="1130300"/>
            <a:chExt cx="10867605" cy="4854937"/>
          </a:xfrm>
        </p:grpSpPr>
        <p:sp>
          <p:nvSpPr>
            <p:cNvPr id="4" name="AutoShape 4"/>
            <p:cNvSpPr/>
            <p:nvPr>
              <p:custDataLst>
                <p:tags r:id="rId2"/>
              </p:custDataLst>
            </p:nvPr>
          </p:nvSpPr>
          <p:spPr>
            <a:xfrm>
              <a:off x="1499890" y="2528971"/>
              <a:ext cx="7308593" cy="1"/>
            </a:xfrm>
            <a:prstGeom prst="straightConnector1">
              <a:avLst/>
            </a:prstGeom>
            <a:ln w="12700">
              <a:solidFill>
                <a:srgbClr val="28666D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399" y="1130300"/>
              <a:ext cx="10858500" cy="5253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="1" i="0" strike="noStrike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rPr>
                <a:t>简述OFDM系统关键参数与流程</a:t>
              </a:r>
              <a:endParaRPr lang="en-US" sz="2800" b="1" i="0" strike="noStrike">
                <a:solidFill>
                  <a:srgbClr val="2F2F2F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9361" y="2221901"/>
              <a:ext cx="3389630" cy="3763336"/>
              <a:chOff x="669361" y="2221901"/>
              <a:chExt cx="2520106" cy="3763336"/>
            </a:xfrm>
          </p:grpSpPr>
          <p:sp>
            <p:nvSpPr>
              <p:cNvPr id="7" name="AutoShape 7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669361" y="3187101"/>
                <a:ext cx="2520106" cy="2172335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8666D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67571" y="2221901"/>
                <a:ext cx="457683" cy="614141"/>
              </a:xfrm>
              <a:prstGeom prst="ellipse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01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01663" y="3321236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系统参数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01663" y="4041237"/>
                <a:ext cx="2255397" cy="1944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采用64点FFT，8点循环前缀，52个有效子载波，QPSK调制，导频间隔为4。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403867" y="2221901"/>
              <a:ext cx="3389630" cy="3763336"/>
              <a:chOff x="669361" y="2221901"/>
              <a:chExt cx="2520106" cy="3763336"/>
            </a:xfrm>
          </p:grpSpPr>
          <p:sp>
            <p:nvSpPr>
              <p:cNvPr id="12" name="AutoShape 12"/>
              <p:cNvSpPr/>
              <p:nvPr>
                <p:custDataLst>
                  <p:tags r:id="rId7"/>
                </p:custDataLst>
              </p:nvPr>
            </p:nvSpPr>
            <p:spPr>
              <a:xfrm flipV="1">
                <a:off x="669361" y="3187101"/>
                <a:ext cx="2520106" cy="2172335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8666D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67571" y="2221901"/>
                <a:ext cx="457683" cy="614141"/>
              </a:xfrm>
              <a:prstGeom prst="ellipse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02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01663" y="3321236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发送端流程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01663" y="4041237"/>
                <a:ext cx="2255397" cy="1944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随机比特 → QPSK调制 → 插入导频 → IFFT → 添加CP → 发送。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8138374" y="2221901"/>
              <a:ext cx="3389630" cy="3763336"/>
              <a:chOff x="669361" y="2221901"/>
              <a:chExt cx="2520106" cy="3763336"/>
            </a:xfrm>
          </p:grpSpPr>
          <p:sp>
            <p:nvSpPr>
              <p:cNvPr id="17" name="AutoShape 17"/>
              <p:cNvSpPr/>
              <p:nvPr>
                <p:custDataLst>
                  <p:tags r:id="rId11"/>
                </p:custDataLst>
              </p:nvPr>
            </p:nvSpPr>
            <p:spPr>
              <a:xfrm flipV="1">
                <a:off x="669361" y="3187101"/>
                <a:ext cx="2520106" cy="2172335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8666D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167571" y="2221901"/>
                <a:ext cx="457683" cy="614141"/>
              </a:xfrm>
              <a:prstGeom prst="ellipse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03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01663" y="3321236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接收端流程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801663" y="4041237"/>
                <a:ext cx="2255397" cy="1944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去除CP → FFT → 信道估计 → 频域均衡 → 解调 → 输出比特。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OFDM收发链路</a:t>
            </a:r>
            <a:endParaRPr lang="en-US" sz="32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e14a81-d566-4c93-9f74-4a49dbe105a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2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2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0399" y="1130300"/>
            <a:ext cx="10858501" cy="4988460"/>
            <a:chOff x="660399" y="1130300"/>
            <a:chExt cx="10858501" cy="4988460"/>
          </a:xfrm>
        </p:grpSpPr>
        <p:sp>
          <p:nvSpPr>
            <p:cNvPr id="4" name="TextBox 4"/>
            <p:cNvSpPr txBox="1"/>
            <p:nvPr/>
          </p:nvSpPr>
          <p:spPr>
            <a:xfrm>
              <a:off x="679450" y="1130300"/>
              <a:ext cx="10833100" cy="1020289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8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rPr>
                <a:t>定义仿真环境及性能衡量标准</a:t>
              </a:r>
              <a:endParaRPr lang="en-US" sz="2800" b="1" i="0">
                <a:solidFill>
                  <a:srgbClr val="2F2F2F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Noto Sans S Chinese Bold"/>
              </a:endParaRPr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399" y="2272165"/>
              <a:ext cx="3233051" cy="3841933"/>
              <a:chOff x="660400" y="2272165"/>
              <a:chExt cx="2041331" cy="3841933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3424427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28666D">
                      <a:alpha val="100000"/>
                    </a:srgbClr>
                  </a:gs>
                  <a:gs pos="100000">
                    <a:srgbClr val="FF6B42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60400" y="2272165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5400" b="1" i="0">
                    <a:gradFill>
                      <a:gsLst>
                        <a:gs pos="0">
                          <a:srgbClr val="28666D">
                            <a:alpha val="100000"/>
                          </a:srgbClr>
                        </a:gs>
                        <a:gs pos="100000">
                          <a:srgbClr val="FF6B42">
                            <a:alpha val="100000"/>
                          </a:srgbClr>
                        </a:gs>
                      </a:gsLst>
                      <a:lin ang="2700000"/>
                    </a:gra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01</a:t>
                </a:r>
                <a:endParaRPr lang="en-US" sz="5400" b="1" i="0">
                  <a:gradFill>
                    <a:gsLst>
                      <a:gs pos="0">
                        <a:srgbClr val="28666D">
                          <a:alpha val="100000"/>
                        </a:srgbClr>
                      </a:gs>
                      <a:gs pos="100000">
                        <a:srgbClr val="FF6B42">
                          <a:alpha val="100000"/>
                        </a:srgbClr>
                      </a:gs>
                    </a:gsLst>
                    <a:lin ang="2700000"/>
                  </a:gra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3100" y="3595453"/>
                <a:ext cx="2028631" cy="79700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Rayleigh衰落信道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73100" y="4404828"/>
                <a:ext cx="2028631" cy="1709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采用3径离散时间抽头延迟线模型，各径时延在[0,8]采样点内随机分布，幅度服从瑞利分布。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473124" y="2291056"/>
              <a:ext cx="3233051" cy="3819916"/>
              <a:chOff x="2864693" y="2291056"/>
              <a:chExt cx="2041331" cy="3819916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64693" y="3427752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28666D">
                      <a:alpha val="100000"/>
                    </a:srgbClr>
                  </a:gs>
                  <a:gs pos="100000">
                    <a:srgbClr val="FF6B42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864693" y="3598471"/>
                <a:ext cx="2041331" cy="79398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归一化均方误差(NMSE)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64693" y="229105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5400" b="1" i="0">
                    <a:gradFill>
                      <a:gsLst>
                        <a:gs pos="0">
                          <a:srgbClr val="28666D">
                            <a:alpha val="100000"/>
                          </a:srgbClr>
                        </a:gs>
                        <a:gs pos="100000">
                          <a:srgbClr val="FF6B42">
                            <a:alpha val="100000"/>
                          </a:srgbClr>
                        </a:gs>
                      </a:gsLst>
                      <a:lin ang="2700000"/>
                    </a:gra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02</a:t>
                </a:r>
                <a:endParaRPr lang="en-US" sz="5400" b="1" i="0">
                  <a:gradFill>
                    <a:gsLst>
                      <a:gs pos="0">
                        <a:srgbClr val="28666D">
                          <a:alpha val="100000"/>
                        </a:srgbClr>
                      </a:gs>
                      <a:gs pos="100000">
                        <a:srgbClr val="FF6B42">
                          <a:alpha val="100000"/>
                        </a:srgbClr>
                      </a:gs>
                    </a:gsLst>
                    <a:lin ang="2700000"/>
                  </a:gra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64693" y="4408172"/>
                <a:ext cx="2041331" cy="17028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衡量信道估计值与真实值之间的误差，是评估估计精度的核心指标 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285849" y="2304006"/>
              <a:ext cx="3233051" cy="3814754"/>
              <a:chOff x="5068985" y="2304006"/>
              <a:chExt cx="2041331" cy="3814754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5068985" y="3419928"/>
                <a:ext cx="2041331" cy="49450"/>
              </a:xfrm>
              <a:prstGeom prst="roundRect">
                <a:avLst/>
              </a:prstGeom>
              <a:gradFill>
                <a:gsLst>
                  <a:gs pos="0">
                    <a:srgbClr val="28666D">
                      <a:alpha val="100000"/>
                    </a:srgbClr>
                  </a:gs>
                  <a:gs pos="100000">
                    <a:srgbClr val="FF6B42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068985" y="3583853"/>
                <a:ext cx="2041331" cy="79399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误码率(BER)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068985" y="2304006"/>
                <a:ext cx="2041330" cy="10333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5400" b="1" i="0">
                    <a:gradFill>
                      <a:gsLst>
                        <a:gs pos="0">
                          <a:srgbClr val="28666D">
                            <a:alpha val="100000"/>
                          </a:srgbClr>
                        </a:gs>
                        <a:gs pos="100000">
                          <a:srgbClr val="FF6B42">
                            <a:alpha val="100000"/>
                          </a:srgbClr>
                        </a:gs>
                      </a:gsLst>
                      <a:lin ang="2700000"/>
                    </a:gra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03</a:t>
                </a:r>
                <a:endParaRPr lang="en-US" sz="5400" b="1" i="0">
                  <a:gradFill>
                    <a:gsLst>
                      <a:gs pos="0">
                        <a:srgbClr val="28666D">
                          <a:alpha val="100000"/>
                        </a:srgbClr>
                      </a:gs>
                      <a:gs pos="100000">
                        <a:srgbClr val="FF6B42">
                          <a:alpha val="100000"/>
                        </a:srgbClr>
                      </a:gs>
                    </a:gsLst>
                    <a:lin ang="2700000"/>
                  </a:gra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68985" y="4393490"/>
                <a:ext cx="2041331" cy="172527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4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Noto Sans S Chinese Medium"/>
                  </a:rPr>
                  <a:t>衡量系统端到端的通信质量，即接收端错误比特数与总发送比特数之比。</a:t>
                </a:r>
                <a:endParaRPr lang="en-US" sz="14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Noto Sans S Chinese Medium"/>
                </a:endParaRPr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Noto Sans S Chinese Bold"/>
              </a:rPr>
              <a:t>信道与评估指标</a:t>
            </a:r>
            <a:endParaRPr lang="en-US" sz="32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Noto Sans S Chinese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0400" y="2492062"/>
            <a:ext cx="7938500" cy="12866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FFFFFF">
                    <a:alpha val="100000"/>
                  </a:srgbClr>
                </a:solidFill>
                <a:latin typeface="Noto Sans S Chinese Bold"/>
                <a:ea typeface="Noto Sans S Chinese Bold"/>
                <a:cs typeface="Noto Sans S Chinese Bold"/>
              </a:rPr>
              <a:t>三种信道估计算法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3580400" y="3935029"/>
            <a:ext cx="7938500" cy="42474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Noto Sans S Chinese Medium"/>
                <a:ea typeface="Noto Sans S Chinese Medium"/>
                <a:cs typeface="Noto Sans S Chinese Medium"/>
              </a:rPr>
              <a:t>本报告实现了三种信道估计算法：经典的传统方法（LS, MMSE）与基于深度学习的CNN方法。本章将详细介绍其原理。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Noto Sans S Chinese Medium"/>
                <a:ea typeface="Noto Sans S Chinese Medium"/>
                <a:cs typeface="Noto Sans S Chinese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1289724-1710-4f79-9637-f048a00450bb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2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2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52145" y="1077595"/>
            <a:ext cx="10741025" cy="5003800"/>
            <a:chOff x="666750" y="1130300"/>
            <a:chExt cx="10741025" cy="5003800"/>
          </a:xfrm>
        </p:grpSpPr>
        <p:sp>
          <p:nvSpPr>
            <p:cNvPr id="4" name="AutoShape 4"/>
            <p:cNvSpPr/>
            <p:nvPr/>
          </p:nvSpPr>
          <p:spPr>
            <a:xfrm>
              <a:off x="762438" y="2205429"/>
              <a:ext cx="1430338" cy="45719"/>
            </a:xfrm>
            <a:prstGeom prst="roundRect">
              <a:avLst>
                <a:gd name="adj" fmla="val 50000"/>
              </a:avLst>
            </a:prstGeom>
            <a:solidFill>
              <a:srgbClr val="2F2F2F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6750" y="1130300"/>
              <a:ext cx="4877707" cy="100438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8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rPr>
                <a:t>最小二乘(LS)与最小均方误差(MMSE)</a:t>
              </a:r>
              <a:endParaRPr lang="en-US" sz="2800" b="1" i="0">
                <a:solidFill>
                  <a:srgbClr val="2F2F2F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endParaRPr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6750" y="2414904"/>
              <a:ext cx="5052133" cy="3719196"/>
              <a:chOff x="666750" y="2414904"/>
              <a:chExt cx="5052133" cy="3719196"/>
            </a:xfrm>
          </p:grpSpPr>
          <p:sp>
            <p:nvSpPr>
              <p:cNvPr id="7" name="AutoShape 7"/>
              <p:cNvSpPr/>
              <p:nvPr>
                <p:custDataLst>
                  <p:tags r:id="rId2"/>
                </p:custDataLst>
              </p:nvPr>
            </p:nvSpPr>
            <p:spPr>
              <a:xfrm>
                <a:off x="666750" y="2414904"/>
                <a:ext cx="5052133" cy="339089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029203" y="3095325"/>
                <a:ext cx="504322" cy="432000"/>
              </a:xfrm>
              <a:prstGeom prst="rect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01.</a:t>
                </a:r>
                <a:endParaRPr lang="en-US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28699" y="4395982"/>
                <a:ext cx="4581544" cy="17381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 strike="noStrike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在导频位置，直接利用                    进行估计。其优点是计算简单，但缺点是会直接放大噪声。</a:t>
                </a:r>
                <a:endParaRPr lang="en-US" b="0" i="0" strike="noStrike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28693" y="3735802"/>
                <a:ext cx="4581544" cy="6601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最小二乘(LS)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6355642" y="2072004"/>
              <a:ext cx="5052133" cy="4062096"/>
              <a:chOff x="6355642" y="2072004"/>
              <a:chExt cx="5052133" cy="4062096"/>
            </a:xfrm>
          </p:grpSpPr>
          <p:sp>
            <p:nvSpPr>
              <p:cNvPr id="12" name="AutoShape 12"/>
              <p:cNvSpPr/>
              <p:nvPr>
                <p:custDataLst>
                  <p:tags r:id="rId6"/>
                </p:custDataLst>
              </p:nvPr>
            </p:nvSpPr>
            <p:spPr>
              <a:xfrm>
                <a:off x="6355642" y="2072004"/>
                <a:ext cx="5052133" cy="339089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823378" y="3095325"/>
                <a:ext cx="504322" cy="432000"/>
              </a:xfrm>
              <a:prstGeom prst="rect">
                <a:avLst/>
              </a:prstGeom>
              <a:solidFill>
                <a:srgbClr val="28666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02.</a:t>
                </a:r>
                <a:endParaRPr lang="en-US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716645" y="4395982"/>
                <a:ext cx="4581544" cy="17381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 strike="noStrike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在LS估计的基础上，引入信道自相关矩阵  和噪声方差，通过线性滤波得到更优估计。其核心公式为 </a:t>
                </a:r>
                <a:endParaRPr lang="en-US" b="0" i="0" strike="noStrike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716639" y="3710402"/>
                <a:ext cx="4581544" cy="6601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最小均方误差(MMSE)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Noto Sans S Chinese Bold"/>
              </a:rPr>
              <a:t>传统估计算法</a:t>
            </a:r>
            <a:endParaRPr lang="en-US" sz="32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Noto Sans S Chinese Bold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4495800"/>
            <a:ext cx="1157605" cy="2717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1800" y="5410200"/>
            <a:ext cx="4170680" cy="418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51dcb7d-cabd-4d16-9b54-1bb9ab74bcb3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4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4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AutoShape 4"/>
            <p:cNvSpPr/>
            <p:nvPr/>
          </p:nvSpPr>
          <p:spPr>
            <a:xfrm>
              <a:off x="935564" y="3385463"/>
              <a:ext cx="10583335" cy="0"/>
            </a:xfrm>
            <a:prstGeom prst="line">
              <a:avLst/>
            </a:prstGeom>
            <a:ln w="6350">
              <a:solidFill>
                <a:srgbClr val="2F2F2F">
                  <a:alpha val="4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804006" y="3295463"/>
              <a:ext cx="180000" cy="180000"/>
            </a:xfrm>
            <a:prstGeom prst="ellipse">
              <a:avLst/>
            </a:prstGeom>
            <a:solidFill>
              <a:srgbClr val="28666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130300"/>
              <a:ext cx="10858500" cy="108676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108000" tIns="108000" rIns="108000" bIns="108000" rtlCol="0" anchor="ctr" anchorCtr="0"/>
            <a:lstStyle/>
            <a:p>
              <a:pPr algn="ctr">
                <a:defRPr/>
              </a:pPr>
              <a:r>
                <a:rPr lang="en-US" sz="32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rPr>
                <a:t>端到端的信道估计网络(ChannleNet)</a:t>
              </a:r>
              <a:endParaRPr lang="en-US" sz="3200" b="1" i="0">
                <a:solidFill>
                  <a:srgbClr val="2F2F2F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endParaRPr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0400" y="2667003"/>
              <a:ext cx="5077542" cy="3467097"/>
              <a:chOff x="660400" y="2667003"/>
              <a:chExt cx="2534514" cy="3467097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60401" y="2667003"/>
                <a:ext cx="2534513" cy="4934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28666D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01</a:t>
                </a:r>
                <a:endParaRPr lang="en-US" sz="2800" b="1" i="0">
                  <a:solidFill>
                    <a:srgbClr val="28666D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1" y="3610432"/>
                <a:ext cx="2534511" cy="6749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网络结构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4316114"/>
                <a:ext cx="2534513" cy="18179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输入：导频位置的LS估计（补零）→ 双通道（实部、虚部）。输出：全子载波信道估计。包含多个一维卷积层、批归一化层（BN）和ReLU激活函数。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6577558" y="3295463"/>
              <a:ext cx="180000" cy="180000"/>
            </a:xfrm>
            <a:prstGeom prst="ellipse">
              <a:avLst/>
            </a:prstGeom>
            <a:solidFill>
              <a:srgbClr val="28666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2" name="Group 12"/>
            <p:cNvGrpSpPr/>
            <p:nvPr/>
          </p:nvGrpSpPr>
          <p:grpSpPr>
            <a:xfrm rot="0">
              <a:off x="6441358" y="2667003"/>
              <a:ext cx="5077542" cy="3467097"/>
              <a:chOff x="3435062" y="2667003"/>
              <a:chExt cx="2534514" cy="346709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435063" y="2667003"/>
                <a:ext cx="2534513" cy="4934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2800" b="1" i="0">
                    <a:solidFill>
                      <a:srgbClr val="28666D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02</a:t>
                </a:r>
                <a:endParaRPr lang="en-US" sz="2800" b="1" i="0">
                  <a:solidFill>
                    <a:srgbClr val="28666D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35063" y="3610432"/>
                <a:ext cx="2534511" cy="6749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训练方法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35062" y="4316114"/>
                <a:ext cx="2534513" cy="181798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使用8000个样本进行训练，SNR范围从0到25dB。输入为导频处的LS估计，标签为真实信道响应。采用均方误差(MSE)作为损失函数，使用Adam优化器。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基于CNN的估计</a:t>
            </a:r>
            <a:endParaRPr lang="en-US" sz="36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0400" y="2492062"/>
            <a:ext cx="7938500" cy="12866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FFFFFF">
                    <a:alpha val="100000"/>
                  </a:srgbClr>
                </a:solidFill>
                <a:latin typeface="Noto Sans S Chinese Bold"/>
                <a:ea typeface="Noto Sans S Chinese Bold"/>
                <a:cs typeface="Noto Sans S Chinese Bold"/>
              </a:rPr>
              <a:t>实验结果与结论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2F2F2F">
                    <a:alpha val="100000"/>
                    <a:tint val="75000"/>
                  </a:srgbClr>
                </a:solidFill>
                <a:latin typeface="Noto Sans S Chinese Medium"/>
                <a:ea typeface="Noto Sans S Chinese Medium"/>
                <a:cs typeface="Noto Sans S Chinese Medium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6"/>
          <p:cNvSpPr/>
          <p:nvPr>
            <p:custDataLst>
              <p:tags r:id="rId1"/>
            </p:custDataLst>
          </p:nvPr>
        </p:nvSpPr>
        <p:spPr>
          <a:xfrm>
            <a:off x="619760" y="4495800"/>
            <a:ext cx="4504690" cy="1507490"/>
          </a:xfrm>
          <a:prstGeom prst="rect">
            <a:avLst/>
          </a:prstGeom>
          <a:solidFill>
            <a:srgbClr val="06BB9A">
              <a:alpha val="40000"/>
            </a:srgbClr>
          </a:solidFill>
          <a:ln>
            <a:prstDash val="solid"/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21" name="AutoShape 6"/>
          <p:cNvSpPr/>
          <p:nvPr>
            <p:custDataLst>
              <p:tags r:id="rId2"/>
            </p:custDataLst>
          </p:nvPr>
        </p:nvSpPr>
        <p:spPr>
          <a:xfrm>
            <a:off x="619760" y="2788285"/>
            <a:ext cx="4527550" cy="1350645"/>
          </a:xfrm>
          <a:prstGeom prst="rect">
            <a:avLst/>
          </a:prstGeom>
          <a:solidFill>
            <a:srgbClr val="06BB9A">
              <a:alpha val="4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2" name="c026e0a5-d342-4404-acd1-4014058d38d7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2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2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>
            <p:custDataLst>
              <p:tags r:id="rId3"/>
            </p:custDataLst>
          </p:nvPr>
        </p:nvGrpSpPr>
        <p:grpSpPr>
          <a:xfrm rot="0">
            <a:off x="609448" y="1371549"/>
            <a:ext cx="4537710" cy="5044440"/>
            <a:chOff x="609448" y="1295349"/>
            <a:chExt cx="4537710" cy="5044440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609448" y="1295349"/>
              <a:ext cx="4504055" cy="1026795"/>
              <a:chOff x="609448" y="1295349"/>
              <a:chExt cx="4504055" cy="1026795"/>
            </a:xfrm>
          </p:grpSpPr>
          <p:sp>
            <p:nvSpPr>
              <p:cNvPr id="6" name="AutoShape 6"/>
              <p:cNvSpPr/>
              <p:nvPr>
                <p:custDataLst>
                  <p:tags r:id="rId4"/>
                </p:custDataLst>
              </p:nvPr>
            </p:nvSpPr>
            <p:spPr>
              <a:xfrm>
                <a:off x="609448" y="1295349"/>
                <a:ext cx="4472940" cy="1026795"/>
              </a:xfrm>
              <a:prstGeom prst="rect">
                <a:avLst/>
              </a:prstGeom>
              <a:solidFill>
                <a:srgbClr val="06BB9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72008" y="1356309"/>
                <a:ext cx="4341495" cy="90487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在3径Rayleigh衰落信道下进行，导频间隔4个子载波，每个SNR点独立测试500次。</a:t>
                </a:r>
                <a:endParaRPr lang="en-US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sp>
          <p:nvSpPr>
            <p:cNvPr id="18" name="TextBox 18"/>
            <p:cNvSpPr txBox="1"/>
            <p:nvPr>
              <p:custDataLst>
                <p:tags r:id="rId6"/>
              </p:custDataLst>
            </p:nvPr>
          </p:nvSpPr>
          <p:spPr>
            <a:xfrm>
              <a:off x="648183" y="4513529"/>
              <a:ext cx="4498975" cy="182626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rPr>
                <a:t>在本实验中，简化版MMSE性能与LS非常接近，甚至在某些SNR点下LS略优。这表明获取精确的信道统计先验对MMSE至关重要。</a:t>
              </a:r>
              <a:endParaRPr lang="en-US" b="0" i="0">
                <a:solidFill>
                  <a:srgbClr val="2F2F2F">
                    <a:alpha val="100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7"/>
              </p:custDataLst>
            </p:nvPr>
          </p:nvSpPr>
          <p:spPr>
            <a:xfrm>
              <a:off x="617068" y="2665044"/>
              <a:ext cx="4465320" cy="144399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just">
                <a:lnSpc>
                  <a:spcPct val="120000"/>
                </a:lnSpc>
                <a:defRPr/>
              </a:pPr>
              <a:r>
                <a:rPr lang="en-US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rPr>
                <a:t>在全部SNR范围内，CNN的NMSE均优于LS和MMSE。在SNR=20dB时，CNN的NMSE达到</a:t>
              </a:r>
              <a:r>
                <a:rPr lang="en-US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rPr>
                <a:t>-16.53dB</a:t>
              </a:r>
              <a:r>
                <a:rPr lang="en-US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rPr>
                <a:t>，比LS低</a:t>
              </a:r>
              <a:r>
                <a:rPr lang="en-US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rPr>
                <a:t>9.51dB</a:t>
              </a:r>
              <a:r>
                <a:rPr lang="en-US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rPr>
                <a:t>，超额完成目标。</a:t>
              </a:r>
              <a:endParaRPr lang="en-US" b="0" i="0">
                <a:solidFill>
                  <a:srgbClr val="2F2F2F">
                    <a:alpha val="100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NMSE性能对比</a:t>
            </a:r>
            <a:endParaRPr lang="en-US" sz="32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Times New Roman" panose="0202060305040502030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7495" y="914400"/>
            <a:ext cx="6638925" cy="5034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b8b7b38-1083-4618-937a-b3e92f1e5670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2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2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0" y="533400"/>
            <a:ext cx="12192000" cy="6271260"/>
            <a:chOff x="0" y="1130300"/>
            <a:chExt cx="12192000" cy="5727700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7698945" y="1130300"/>
              <a:ext cx="4131310" cy="2397843"/>
              <a:chOff x="4504038" y="1130300"/>
              <a:chExt cx="2560326" cy="2397843"/>
            </a:xfrm>
          </p:grpSpPr>
          <p:sp>
            <p:nvSpPr>
              <p:cNvPr id="6" name="AutoShap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4504038" y="1130300"/>
                <a:ext cx="2560326" cy="2291080"/>
              </a:xfrm>
              <a:prstGeom prst="roundRect">
                <a:avLst>
                  <a:gd name="adj" fmla="val 7200"/>
                </a:avLst>
              </a:prstGeom>
              <a:gradFill>
                <a:gsLst>
                  <a:gs pos="0">
                    <a:srgbClr val="FF6B42">
                      <a:alpha val="14901"/>
                    </a:srgbClr>
                  </a:gs>
                  <a:gs pos="100000">
                    <a:srgbClr val="FF6B42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4596862" y="1150952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CNN的BER优势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604732" y="1826180"/>
                <a:ext cx="2373064" cy="17019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lang="en-US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在SNR=5dB时，CNN的BER比LS降低</a:t>
                </a:r>
                <a:r>
                  <a:rPr lang="en-US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48%</a:t>
                </a:r>
                <a:r>
                  <a:rPr lang="en-US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；在SNR=15dB时，比LS降低</a:t>
                </a:r>
                <a:r>
                  <a:rPr lang="en-US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77%</a:t>
                </a:r>
                <a:r>
                  <a:rPr lang="en-US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。优势随SNR增加而扩大。</a:t>
                </a:r>
                <a:endParaRPr lang="en-US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7747416" y="3962400"/>
              <a:ext cx="4131310" cy="2463800"/>
              <a:chOff x="4167837" y="3962400"/>
              <a:chExt cx="2560326" cy="2463800"/>
            </a:xfrm>
          </p:grpSpPr>
          <p:sp>
            <p:nvSpPr>
              <p:cNvPr id="11" name="AutoShape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4167837" y="3962400"/>
                <a:ext cx="2560326" cy="2383155"/>
              </a:xfrm>
              <a:prstGeom prst="roundRect">
                <a:avLst>
                  <a:gd name="adj" fmla="val 7200"/>
                </a:avLst>
              </a:prstGeom>
              <a:gradFill>
                <a:gsLst>
                  <a:gs pos="0">
                    <a:srgbClr val="FF6B42">
                      <a:alpha val="14901"/>
                    </a:srgbClr>
                  </a:gs>
                  <a:gs pos="100000">
                    <a:srgbClr val="FF6B42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238280" y="3962400"/>
                <a:ext cx="2373064" cy="6792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等效信噪比分析</a:t>
                </a:r>
                <a:endParaRPr lang="en-US" sz="20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324857" y="4724237"/>
                <a:ext cx="2373064" cy="170196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defRPr/>
                </a:pPr>
                <a:r>
                  <a:rPr lang="en-US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CNN在SNR=15dB时的误码率(0.0335)已经低于LS在SNR=25dB时的误码率(0.1448)。这意味着采用CNN可使系统性能提升约</a:t>
                </a:r>
                <a:r>
                  <a:rPr lang="en-US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10dB</a:t>
                </a:r>
                <a:r>
                  <a:rPr lang="en-US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。</a:t>
                </a:r>
                <a:endParaRPr lang="en-US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</p:grpSp>
        <p:sp>
          <p:nvSpPr>
            <p:cNvPr id="15" name="AutoShape 15"/>
            <p:cNvSpPr/>
            <p:nvPr/>
          </p:nvSpPr>
          <p:spPr>
            <a:xfrm>
              <a:off x="0" y="6635750"/>
              <a:ext cx="12192000" cy="222250"/>
            </a:xfrm>
            <a:custGeom>
              <a:avLst/>
              <a:gdLst/>
              <a:ahLst/>
              <a:cxnLst/>
              <a:rect l="l" t="t" r="r" b="b"/>
              <a:pathLst>
                <a:path w="12192000" h="120316">
                  <a:moveTo>
                    <a:pt x="0" y="0"/>
                  </a:moveTo>
                  <a:lnTo>
                    <a:pt x="12192000" y="0"/>
                  </a:lnTo>
                  <a:lnTo>
                    <a:pt x="12192000" y="120316"/>
                  </a:lnTo>
                  <a:lnTo>
                    <a:pt x="0" y="120316"/>
                  </a:lnTo>
                  <a:close/>
                </a:path>
              </a:pathLst>
            </a:custGeom>
            <a:solidFill>
              <a:srgbClr val="28666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Times New Roman" panose="02020603050405020304" charset="0"/>
              </a:rPr>
              <a:t>BER性能对比</a:t>
            </a:r>
            <a:endParaRPr lang="en-US" sz="32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Times New Roman" panose="0202060305040502030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371600"/>
            <a:ext cx="6836410" cy="43313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60db542-a317-4c04-bd68-b38f1c13367d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400" b="0" i="0">
                <a:solidFill>
                  <a:srgbClr val="2F2F2F">
                    <a:alpha val="100000"/>
                    <a:tint val="75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4</a:t>
            </a:r>
            <a:endParaRPr lang="en-US" sz="1400" b="0" i="0">
              <a:solidFill>
                <a:srgbClr val="2F2F2F">
                  <a:alpha val="100000"/>
                  <a:tint val="75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  <p:grpSp>
        <p:nvGrpSpPr>
          <p:cNvPr id="3" name="Group 3"/>
          <p:cNvGrpSpPr/>
          <p:nvPr>
            <p:custDataLst>
              <p:tags r:id="rId1"/>
            </p:custDataLst>
          </p:nvPr>
        </p:nvGrpSpPr>
        <p:grpSpPr>
          <a:xfrm rot="0">
            <a:off x="645160" y="1444625"/>
            <a:ext cx="11221203" cy="4689475"/>
            <a:chOff x="660400" y="1969999"/>
            <a:chExt cx="11205476" cy="4164101"/>
          </a:xfrm>
        </p:grpSpPr>
        <p:grpSp>
          <p:nvGrpSpPr>
            <p:cNvPr id="5" name="Group 5"/>
            <p:cNvGrpSpPr/>
            <p:nvPr/>
          </p:nvGrpSpPr>
          <p:grpSpPr>
            <a:xfrm rot="0">
              <a:off x="660400" y="1970000"/>
              <a:ext cx="2375377" cy="4164100"/>
              <a:chOff x="660400" y="1970000"/>
              <a:chExt cx="2375377" cy="4164100"/>
            </a:xfrm>
          </p:grpSpPr>
          <p:sp>
            <p:nvSpPr>
              <p:cNvPr id="6" name="AutoShap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660400" y="1970000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2F2F2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700984" y="2620694"/>
                <a:ext cx="2334793" cy="7211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Times New Roman" panose="02020603050405020304" charset="0"/>
                  </a:rPr>
                  <a:t>CNN性能卓越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Times New Roman" panose="02020603050405020304" charset="0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38516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在SNR=20dB时，CNN的NMSE比LS低9.51dB，BER降低约</a:t>
                </a:r>
                <a:r>
                  <a:rPr lang="en-US" sz="16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86%</a:t>
                </a: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，性能显著优于传统方法。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  <p:sp>
            <p:nvSpPr>
              <p:cNvPr id="9" name="TextBox 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06035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28666D">
                      <a:alpha val="100000"/>
                      <a:lumMod val="60000"/>
                      <a:lumOff val="40000"/>
                    </a:srgbClr>
                  </a:gs>
                  <a:gs pos="60000">
                    <a:srgbClr val="28666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1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2862693" y="1969999"/>
              <a:ext cx="2312600" cy="4164100"/>
              <a:chOff x="2862693" y="1969999"/>
              <a:chExt cx="2312600" cy="4164100"/>
            </a:xfrm>
          </p:grpSpPr>
          <p:sp>
            <p:nvSpPr>
              <p:cNvPr id="11" name="AutoShape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2862693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2F2F2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940689" y="2620693"/>
                <a:ext cx="2234604" cy="7211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突破线性瓶颈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940809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CNN通过非线性映射突破了LS在高SNR下因线性插值导致的“误差平台”，增益随SNR持续增加。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008837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28666D">
                      <a:alpha val="100000"/>
                      <a:lumMod val="60000"/>
                      <a:lumOff val="40000"/>
                    </a:srgbClr>
                  </a:gs>
                  <a:gs pos="60000">
                    <a:srgbClr val="28666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2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5064987" y="1969999"/>
              <a:ext cx="2158511" cy="4164100"/>
              <a:chOff x="5064987" y="1969999"/>
              <a:chExt cx="2158511" cy="4164100"/>
            </a:xfrm>
          </p:grpSpPr>
          <p:sp>
            <p:nvSpPr>
              <p:cNvPr id="16" name="AutoShape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064987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2F2F2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142983" y="2620693"/>
                <a:ext cx="2080515" cy="7211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卷积结构优势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5143103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相比全连接网络(MLP)，CNN通过卷积核显式建模频域相关性，进一步提升了</a:t>
                </a:r>
                <a:r>
                  <a:rPr lang="en-US" sz="16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2~3dB</a:t>
                </a: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的增益。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211639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28666D">
                      <a:alpha val="100000"/>
                      <a:lumMod val="60000"/>
                      <a:lumOff val="40000"/>
                    </a:srgbClr>
                  </a:gs>
                  <a:gs pos="60000">
                    <a:srgbClr val="28666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3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7267280" y="1969999"/>
              <a:ext cx="2049326" cy="4164100"/>
              <a:chOff x="7267280" y="1969999"/>
              <a:chExt cx="2049326" cy="4164100"/>
            </a:xfrm>
          </p:grpSpPr>
          <p:sp>
            <p:nvSpPr>
              <p:cNvPr id="21" name="AutoShape 21"/>
              <p:cNvSpPr/>
              <p:nvPr>
                <p:custDataLst>
                  <p:tags r:id="rId14"/>
                </p:custDataLst>
              </p:nvPr>
            </p:nvSpPr>
            <p:spPr>
              <a:xfrm>
                <a:off x="7267280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2F2F2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345276" y="2620693"/>
                <a:ext cx="1914378" cy="7211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端到端学习有效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345396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Noto Sans S Chinese Medium"/>
                  </a:rPr>
                  <a:t>神经网络无需显式信道统计先验，可直接从数据中学习映射关系，展现了强大的鲁棒性。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Noto Sans S Chinese Medium"/>
                </a:endParaRPr>
              </a:p>
            </p:txBody>
          </p:sp>
          <p:sp>
            <p:nvSpPr>
              <p:cNvPr id="24" name="TextBox 24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414441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28666D">
                      <a:alpha val="100000"/>
                      <a:lumMod val="60000"/>
                      <a:lumOff val="40000"/>
                    </a:srgbClr>
                  </a:gs>
                  <a:gs pos="60000">
                    <a:srgbClr val="28666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4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 rot="0">
              <a:off x="9469574" y="1969999"/>
              <a:ext cx="2396302" cy="4164100"/>
              <a:chOff x="9469574" y="1969999"/>
              <a:chExt cx="2396302" cy="4164100"/>
            </a:xfrm>
          </p:grpSpPr>
          <p:sp>
            <p:nvSpPr>
              <p:cNvPr id="26" name="AutoShape 26"/>
              <p:cNvSpPr/>
              <p:nvPr>
                <p:custDataLst>
                  <p:tags r:id="rId18"/>
                </p:custDataLst>
              </p:nvPr>
            </p:nvSpPr>
            <p:spPr>
              <a:xfrm>
                <a:off x="9469574" y="1969999"/>
                <a:ext cx="2049326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2F2F2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9547570" y="2620693"/>
                <a:ext cx="2318306" cy="72117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4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Bold"/>
                    <a:cs typeface="Noto Sans S Chinese Bold"/>
                  </a:rPr>
                  <a:t>目标超额达成</a:t>
                </a:r>
                <a:endParaRPr lang="en-US" sz="2400" b="1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Bold"/>
                  <a:cs typeface="Noto Sans S Chinese Bold"/>
                </a:endParaRPr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547690" y="3341904"/>
                <a:ext cx="1903527" cy="25508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实验结果表明，CNN在SNR=20dB时优于LS达</a:t>
                </a:r>
                <a:r>
                  <a:rPr lang="en-US" sz="1600" b="1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9.51dB</a:t>
                </a:r>
                <a:r>
                  <a:rPr lang="en-US" sz="1600" b="0" i="0">
                    <a:solidFill>
                      <a:srgbClr val="2F2F2F">
                        <a:alpha val="100000"/>
                      </a:srgbClr>
                    </a:solidFill>
                    <a:latin typeface="Times New Roman" panose="02020603050405020304" charset="0"/>
                    <a:ea typeface="Noto Sans S Chinese Medium"/>
                    <a:cs typeface="Times New Roman" panose="02020603050405020304" charset="0"/>
                  </a:rPr>
                  <a:t>，远超实习目标（≥5dB）。</a:t>
                </a:r>
                <a:endParaRPr lang="en-US" sz="1600" b="0" i="0">
                  <a:solidFill>
                    <a:srgbClr val="2F2F2F">
                      <a:alpha val="100000"/>
                    </a:srgbClr>
                  </a:solidFill>
                  <a:latin typeface="Times New Roman" panose="02020603050405020304" charset="0"/>
                  <a:ea typeface="Noto Sans S Chinese Medium"/>
                  <a:cs typeface="Times New Roman" panose="02020603050405020304" charset="0"/>
                </a:endParaRPr>
              </a:p>
            </p:txBody>
          </p:sp>
          <p:sp>
            <p:nvSpPr>
              <p:cNvPr id="29" name="TextBox 2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617243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28666D">
                      <a:alpha val="100000"/>
                      <a:lumMod val="60000"/>
                      <a:lumOff val="40000"/>
                    </a:srgbClr>
                  </a:gs>
                  <a:gs pos="60000">
                    <a:srgbClr val="28666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Times New Roman" panose="02020603050405020304" charset="0"/>
                    <a:ea typeface="Arial" panose="020B0604020202020204"/>
                    <a:cs typeface="Times New Roman" panose="02020603050405020304" charset="0"/>
                  </a:rPr>
                  <a:t>5</a:t>
                </a:r>
                <a:endParaRPr lang="en-US" sz="2000" b="1" i="0">
                  <a:solidFill>
                    <a:srgbClr val="FFFFFF">
                      <a:alpha val="100000"/>
                    </a:srgbClr>
                  </a:solidFill>
                  <a:latin typeface="Times New Roman" panose="02020603050405020304" charset="0"/>
                  <a:ea typeface="Arial" panose="020B0604020202020204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1016000" y="128587"/>
            <a:ext cx="105029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28666D">
                    <a:alpha val="100000"/>
                  </a:srgbClr>
                </a:solidFill>
                <a:latin typeface="Times New Roman" panose="02020603050405020304" charset="0"/>
                <a:ea typeface="Noto Sans S Chinese Bold"/>
                <a:cs typeface="Noto Sans S Chinese Bold"/>
              </a:rPr>
              <a:t>主要发现与结论</a:t>
            </a:r>
            <a:endParaRPr lang="en-US" sz="3600" b="1" i="0">
              <a:solidFill>
                <a:srgbClr val="28666D">
                  <a:alpha val="100000"/>
                </a:srgbClr>
              </a:solidFill>
              <a:latin typeface="Times New Roman" panose="02020603050405020304" charset="0"/>
              <a:ea typeface="Noto Sans S Chinese Bold"/>
              <a:cs typeface="Noto Sans S Chinese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93072" y="1889016"/>
            <a:ext cx="10005851" cy="253684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6600" b="1" i="0">
                <a:solidFill>
                  <a:srgbClr val="000000">
                    <a:alpha val="100000"/>
                  </a:srgbClr>
                </a:solidFill>
                <a:latin typeface="Noto Sans S Chinese Bold"/>
                <a:ea typeface="Noto Sans S Chinese Bold"/>
                <a:cs typeface="Noto Sans S Chinese Bold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826085" y="4502147"/>
            <a:ext cx="3093453" cy="415865"/>
          </a:xfrm>
          <a:prstGeom prst="roundRect">
            <a:avLst>
              <a:gd name="adj" fmla="val 50000"/>
            </a:avLst>
          </a:prstGeom>
          <a:solidFill>
            <a:srgbClr val="28666D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zh-CN" altLang="en-US" sz="1600" b="0" i="0">
                <a:solidFill>
                  <a:srgbClr val="FFFFFF">
                    <a:alpha val="100000"/>
                  </a:srgbClr>
                </a:solidFill>
                <a:latin typeface="Noto Sans S Chinese Medium"/>
                <a:ea typeface="宋体" panose="02010600030101010101" pitchFamily="2" charset="-122"/>
                <a:cs typeface="Noto Sans S Chinese Medium"/>
              </a:rPr>
              <a:t>苏妍宁</a:t>
            </a:r>
            <a:endParaRPr lang="zh-CN" altLang="en-US" sz="1600" b="0" i="0">
              <a:solidFill>
                <a:srgbClr val="FFFFFF">
                  <a:alpha val="100000"/>
                </a:srgbClr>
              </a:solidFill>
              <a:latin typeface="Noto Sans S Chinese Medium"/>
              <a:ea typeface="宋体" panose="02010600030101010101" pitchFamily="2" charset="-122"/>
              <a:cs typeface="Noto Sans S Chinese Mediu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297080" y="4502147"/>
            <a:ext cx="3093453" cy="415865"/>
          </a:xfrm>
          <a:prstGeom prst="roundRect">
            <a:avLst>
              <a:gd name="adj" fmla="val 50000"/>
            </a:avLst>
          </a:prstGeom>
          <a:solidFill>
            <a:srgbClr val="28666D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8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FFFFFF">
                    <a:alpha val="100000"/>
                  </a:srgbClr>
                </a:solidFill>
                <a:latin typeface="Times New Roman" panose="02020603050405020304" charset="0"/>
                <a:ea typeface="Noto Sans S Chinese Medium"/>
                <a:cs typeface="Times New Roman" panose="02020603050405020304" charset="0"/>
              </a:rPr>
              <a:t>2026.4.18</a:t>
            </a:r>
            <a:endParaRPr lang="en-US" altLang="zh-CN" sz="1600" b="0" i="0">
              <a:solidFill>
                <a:srgbClr val="FFFFFF">
                  <a:alpha val="100000"/>
                </a:srgbClr>
              </a:solidFill>
              <a:latin typeface="Times New Roman" panose="02020603050405020304" charset="0"/>
              <a:ea typeface="Noto Sans S Chinese Medium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2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3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4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5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6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7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8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9.xml><?xml version="1.0" encoding="utf-8"?>
<p:tagLst xmlns:p="http://schemas.openxmlformats.org/presentationml/2006/main">
  <p:tag name="KSO_WM_DIAGRAM_VIRTUALLY_FRAME" val="{&quot;height&quot;:392.83393700787417,&quot;left&quot;:68.38385826771653,&quot;top&quot;:91.3161417322834,&quot;width&quot;:839.4153543307087}"/>
</p:tagLst>
</file>

<file path=ppt/tags/tag1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7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18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19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0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1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2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3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4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5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6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7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8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29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30.xml><?xml version="1.0" encoding="utf-8"?>
<p:tagLst xmlns:p="http://schemas.openxmlformats.org/presentationml/2006/main">
  <p:tag name="KSO_WM_DIAGRAM_VIRTUALLY_FRAME" val="{&quot;height&quot;:394.078031496063,&quot;left&quot;:51.999921259842516,&quot;top&quot;:89,&quot;width&quot;:855.7168955637422}"/>
</p:tagLst>
</file>

<file path=ppt/tags/tag31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2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3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4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5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6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7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8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39.xml><?xml version="1.0" encoding="utf-8"?>
<p:tagLst xmlns:p="http://schemas.openxmlformats.org/presentationml/2006/main">
  <p:tag name="KSO_WM_DIAGRAM_VIRTUALLY_FRAME" val="{&quot;height&quot;:406.14984251968514,&quot;left&quot;:50.85,&quot;top&quot;:84.84999999999997,&quot;width&quot;:856.15}"/>
</p:tagLst>
</file>

<file path=ppt/tags/tag40.xml><?xml version="1.0" encoding="utf-8"?>
<p:tagLst xmlns:p="http://schemas.openxmlformats.org/presentationml/2006/main">
  <p:tag name="KSO_WM_DIAGRAM_VIRTUALLY_FRAME" val="{&quot;height&quot;:378.7868503937007,&quot;left&quot;:41.98803149606301,&quot;top&quot;:89.9092125984252,&quot;width&quot;:865.0119685039369}"/>
</p:tagLst>
</file>

<file path=ppt/tags/tag41.xml><?xml version="1.0" encoding="utf-8"?>
<p:tagLst xmlns:p="http://schemas.openxmlformats.org/presentationml/2006/main">
  <p:tag name="KSO_WM_DIAGRAM_VIRTUALLY_FRAME" val="{&quot;height&quot;:378.7868503937007,&quot;left&quot;:41.98803149606301,&quot;top&quot;:89.9092125984252,&quot;width&quot;:865.0119685039369}"/>
</p:tagLst>
</file>

<file path=ppt/tags/tag42.xml><?xml version="1.0" encoding="utf-8"?>
<p:tagLst xmlns:p="http://schemas.openxmlformats.org/presentationml/2006/main">
  <p:tag name="KSO_WM_DIAGRAM_VIRTUALLY_FRAME" val="{&quot;height&quot;:378.7868503937007,&quot;left&quot;:41.98803149606301,&quot;top&quot;:89.9092125984252,&quot;width&quot;:865.0119685039369}"/>
</p:tagLst>
</file>

<file path=ppt/tags/tag43.xml><?xml version="1.0" encoding="utf-8"?>
<p:tagLst xmlns:p="http://schemas.openxmlformats.org/presentationml/2006/main">
  <p:tag name="KSO_WM_DIAGRAM_VIRTUALLY_FRAME" val="{&quot;height&quot;:378.7868503937007,&quot;left&quot;:41.98803149606301,&quot;top&quot;:89.9092125984252,&quot;width&quot;:865.0119685039369}"/>
</p:tagLst>
</file>

<file path=ppt/tags/tag44.xml><?xml version="1.0" encoding="utf-8"?>
<p:tagLst xmlns:p="http://schemas.openxmlformats.org/presentationml/2006/main">
  <p:tag name="KSO_WM_DIAGRAM_VIRTUALLY_FRAME" val="{&quot;height&quot;:378.7868503937007,&quot;left&quot;:41.98803149606301,&quot;top&quot;:89.9092125984252,&quot;width&quot;:865.0119685039369}"/>
</p:tagLst>
</file>

<file path=ppt/tags/tag45.xml><?xml version="1.0" encoding="utf-8"?>
<p:tagLst xmlns:p="http://schemas.openxmlformats.org/presentationml/2006/main">
  <p:tag name="KSO_WM_DIAGRAM_VIRTUALLY_FRAME" val="{&quot;height&quot;:378.7868503937007,&quot;left&quot;:41.98803149606301,&quot;top&quot;:89.9092125984252,&quot;width&quot;:865.0119685039369}"/>
</p:tagLst>
</file>

<file path=ppt/tags/tag46.xml><?xml version="1.0" encoding="utf-8"?>
<p:tagLst xmlns:p="http://schemas.openxmlformats.org/presentationml/2006/main">
  <p:tag name="KSO_WM_DIAGRAM_VIRTUALLY_FRAME" val="{&quot;height&quot;:378.7868503937007,&quot;left&quot;:41.98803149606301,&quot;top&quot;:89.9092125984252,&quot;width&quot;:865.0119685039369}"/>
</p:tagLst>
</file>

<file path=ppt/tags/tag47.xml><?xml version="1.0" encoding="utf-8"?>
<p:tagLst xmlns:p="http://schemas.openxmlformats.org/presentationml/2006/main">
  <p:tag name="KSO_WM_DIAGRAM_VIRTUALLY_FRAME" val="{&quot;height&quot;:498,&quot;left&quot;:0,&quot;top&quot;:42,&quot;width&quot;:960}"/>
</p:tagLst>
</file>

<file path=ppt/tags/tag48.xml><?xml version="1.0" encoding="utf-8"?>
<p:tagLst xmlns:p="http://schemas.openxmlformats.org/presentationml/2006/main">
  <p:tag name="KSO_WM_DIAGRAM_VIRTUALLY_FRAME" val="{&quot;height&quot;:498,&quot;left&quot;:0,&quot;top&quot;:42,&quot;width&quot;:960}"/>
</p:tagLst>
</file>

<file path=ppt/tags/tag49.xml><?xml version="1.0" encoding="utf-8"?>
<p:tagLst xmlns:p="http://schemas.openxmlformats.org/presentationml/2006/main">
  <p:tag name="KSO_WM_DIAGRAM_VIRTUALLY_FRAME" val="{&quot;height&quot;:498,&quot;left&quot;:0,&quot;top&quot;:42,&quot;width&quot;:960}"/>
</p:tagLst>
</file>

<file path=ppt/tags/tag50.xml><?xml version="1.0" encoding="utf-8"?>
<p:tagLst xmlns:p="http://schemas.openxmlformats.org/presentationml/2006/main">
  <p:tag name="KSO_WM_DIAGRAM_VIRTUALLY_FRAME" val="{&quot;height&quot;:498,&quot;left&quot;:0,&quot;top&quot;:42,&quot;width&quot;:960}"/>
</p:tagLst>
</file>

<file path=ppt/tags/tag51.xml><?xml version="1.0" encoding="utf-8"?>
<p:tagLst xmlns:p="http://schemas.openxmlformats.org/presentationml/2006/main">
  <p:tag name="KSO_WM_DIAGRAM_VIRTUALLY_FRAME" val="{&quot;height&quot;:498,&quot;left&quot;:0,&quot;top&quot;:42,&quot;width&quot;:960}"/>
</p:tagLst>
</file>

<file path=ppt/tags/tag52.xml><?xml version="1.0" encoding="utf-8"?>
<p:tagLst xmlns:p="http://schemas.openxmlformats.org/presentationml/2006/main">
  <p:tag name="KSO_WM_DIAGRAM_VIRTUALLY_FRAME" val="{&quot;height&quot;:498,&quot;left&quot;:0,&quot;top&quot;:42,&quot;width&quot;:960}"/>
</p:tagLst>
</file>

<file path=ppt/tags/tag53.xml><?xml version="1.0" encoding="utf-8"?>
<p:tagLst xmlns:p="http://schemas.openxmlformats.org/presentationml/2006/main">
  <p:tag name="KSO_WM_DIAGRAM_VIRTUALLY_FRAME" val="{&quot;height&quot;:498,&quot;left&quot;:0,&quot;top&quot;:42,&quot;width&quot;:960}"/>
</p:tagLst>
</file>

<file path=ppt/tags/tag54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55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56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57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58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59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0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1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2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3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4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5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6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7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8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69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70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71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72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73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ags/tag74.xml><?xml version="1.0" encoding="utf-8"?>
<p:tagLst xmlns:p="http://schemas.openxmlformats.org/presentationml/2006/main">
  <p:tag name="KSO_WM_DIAGRAM_VIRTUALLY_FRAME" val="{&quot;height&quot;:394,&quot;left&quot;:50.8,&quot;top&quot;:89,&quot;width&quot;:883.559290067689}"/>
</p:tagLst>
</file>

<file path=ppt/theme/theme1.xml><?xml version="1.0" encoding="utf-8"?>
<a:theme xmlns:a="http://schemas.openxmlformats.org/drawingml/2006/main" name="c45d0112-fb47-404b-9ced-df71b5f7740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1808</Words>
  <Application>WPS 演示</Application>
  <PresentationFormat>On-screen Show (4:3)</PresentationFormat>
  <Paragraphs>230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Noto Sans S Chinese Bold</vt:lpstr>
      <vt:lpstr>Segoe Print</vt:lpstr>
      <vt:lpstr>Noto Sans S Chinese Medium</vt:lpstr>
      <vt:lpstr>Arial</vt:lpstr>
      <vt:lpstr>微软雅黑</vt:lpstr>
      <vt:lpstr>Arial Unicode MS</vt:lpstr>
      <vt:lpstr>Calibri</vt:lpstr>
      <vt:lpstr>c45d0112-fb47-404b-9ced-df71b5f7740b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WPS_1628509289</cp:lastModifiedBy>
  <cp:revision>4</cp:revision>
  <dcterms:created xsi:type="dcterms:W3CDTF">2006-08-16T00:00:00Z</dcterms:created>
  <dcterms:modified xsi:type="dcterms:W3CDTF">2026-04-16T10:16:16Z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A08B4C370AF34FAFB8F94329746BEBBE_12</vt:lpwstr>
  </property>
  <property fmtid="{D5CDD505-2E9C-101B-9397-08002B2CF9AE}" pid="3" name="KSOProductBuildVer">
    <vt:lpwstr>2052-12.1.0.25225</vt:lpwstr>
  </property>
</Properties>
</file>